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322" r:id="rId3"/>
    <p:sldId id="315" r:id="rId4"/>
    <p:sldId id="316" r:id="rId5"/>
    <p:sldId id="259" r:id="rId6"/>
    <p:sldId id="296" r:id="rId7"/>
    <p:sldId id="285" r:id="rId8"/>
    <p:sldId id="288" r:id="rId9"/>
    <p:sldId id="286" r:id="rId10"/>
    <p:sldId id="284" r:id="rId11"/>
    <p:sldId id="305" r:id="rId12"/>
    <p:sldId id="319" r:id="rId13"/>
    <p:sldId id="320" r:id="rId14"/>
    <p:sldId id="321" r:id="rId15"/>
    <p:sldId id="325" r:id="rId16"/>
    <p:sldId id="326" r:id="rId17"/>
    <p:sldId id="327" r:id="rId18"/>
    <p:sldId id="328" r:id="rId19"/>
    <p:sldId id="289" r:id="rId20"/>
    <p:sldId id="304" r:id="rId21"/>
    <p:sldId id="290" r:id="rId22"/>
    <p:sldId id="297" r:id="rId23"/>
    <p:sldId id="335" r:id="rId24"/>
    <p:sldId id="298" r:id="rId25"/>
    <p:sldId id="266" r:id="rId26"/>
    <p:sldId id="294" r:id="rId27"/>
    <p:sldId id="295" r:id="rId28"/>
    <p:sldId id="299" r:id="rId29"/>
    <p:sldId id="301" r:id="rId30"/>
    <p:sldId id="302" r:id="rId31"/>
    <p:sldId id="317" r:id="rId32"/>
    <p:sldId id="318" r:id="rId33"/>
    <p:sldId id="329" r:id="rId34"/>
    <p:sldId id="300" r:id="rId35"/>
    <p:sldId id="314" r:id="rId36"/>
    <p:sldId id="306" r:id="rId37"/>
    <p:sldId id="313" r:id="rId38"/>
    <p:sldId id="330" r:id="rId39"/>
    <p:sldId id="331" r:id="rId40"/>
    <p:sldId id="332" r:id="rId41"/>
    <p:sldId id="333" r:id="rId42"/>
    <p:sldId id="334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DBEE21D-895C-4BF9-8A00-A2D2CE4722B5}">
          <p14:sldIdLst>
            <p14:sldId id="256"/>
            <p14:sldId id="322"/>
            <p14:sldId id="315"/>
            <p14:sldId id="316"/>
            <p14:sldId id="259"/>
            <p14:sldId id="296"/>
            <p14:sldId id="285"/>
            <p14:sldId id="288"/>
            <p14:sldId id="286"/>
            <p14:sldId id="284"/>
            <p14:sldId id="305"/>
            <p14:sldId id="319"/>
            <p14:sldId id="320"/>
            <p14:sldId id="321"/>
            <p14:sldId id="325"/>
            <p14:sldId id="326"/>
            <p14:sldId id="327"/>
            <p14:sldId id="328"/>
            <p14:sldId id="289"/>
            <p14:sldId id="304"/>
            <p14:sldId id="290"/>
            <p14:sldId id="297"/>
            <p14:sldId id="335"/>
            <p14:sldId id="298"/>
            <p14:sldId id="266"/>
            <p14:sldId id="294"/>
            <p14:sldId id="295"/>
            <p14:sldId id="299"/>
            <p14:sldId id="301"/>
            <p14:sldId id="302"/>
            <p14:sldId id="317"/>
            <p14:sldId id="318"/>
            <p14:sldId id="329"/>
            <p14:sldId id="300"/>
            <p14:sldId id="314"/>
            <p14:sldId id="306"/>
            <p14:sldId id="313"/>
            <p14:sldId id="330"/>
            <p14:sldId id="331"/>
            <p14:sldId id="332"/>
            <p14:sldId id="333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y lin" initials="jl" lastIdx="2" clrIdx="0">
    <p:extLst>
      <p:ext uri="{19B8F6BF-5375-455C-9EA6-DF929625EA0E}">
        <p15:presenceInfo xmlns:p15="http://schemas.microsoft.com/office/powerpoint/2012/main" userId="c27066670bb4a7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1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Lin" userId="c4f23ff0c3e25d11" providerId="LiveId" clId="{4A8099DE-0DEB-487E-AED0-F5ECDAB021CC}"/>
    <pc:docChg chg="modSld sldOrd">
      <pc:chgData name="Jay Lin" userId="c4f23ff0c3e25d11" providerId="LiveId" clId="{4A8099DE-0DEB-487E-AED0-F5ECDAB021CC}" dt="2022-04-08T06:26:58.970" v="2" actId="1076"/>
      <pc:docMkLst>
        <pc:docMk/>
      </pc:docMkLst>
      <pc:sldChg chg="ord">
        <pc:chgData name="Jay Lin" userId="c4f23ff0c3e25d11" providerId="LiveId" clId="{4A8099DE-0DEB-487E-AED0-F5ECDAB021CC}" dt="2022-02-21T04:59:57.490" v="1"/>
        <pc:sldMkLst>
          <pc:docMk/>
          <pc:sldMk cId="4148327841" sldId="289"/>
        </pc:sldMkLst>
      </pc:sldChg>
      <pc:sldChg chg="modSp mod">
        <pc:chgData name="Jay Lin" userId="c4f23ff0c3e25d11" providerId="LiveId" clId="{4A8099DE-0DEB-487E-AED0-F5ECDAB021CC}" dt="2022-04-08T06:26:58.970" v="2" actId="1076"/>
        <pc:sldMkLst>
          <pc:docMk/>
          <pc:sldMk cId="2542926588" sldId="299"/>
        </pc:sldMkLst>
        <pc:spChg chg="mod">
          <ac:chgData name="Jay Lin" userId="c4f23ff0c3e25d11" providerId="LiveId" clId="{4A8099DE-0DEB-487E-AED0-F5ECDAB021CC}" dt="2022-04-08T06:26:58.970" v="2" actId="1076"/>
          <ac:spMkLst>
            <pc:docMk/>
            <pc:sldMk cId="2542926588" sldId="29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6AB71-956F-46ED-867D-C133B21122DE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DFB0E-51E4-458D-8118-F65FBBB291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435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19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1979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97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95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27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8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843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54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90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332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71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FDD93-7B11-4A9B-9C2B-140EADF4357B}" type="datetimeFigureOut">
              <a:rPr lang="zh-TW" altLang="en-US" smtClean="0"/>
              <a:t>2022/4/8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13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192.168.1.16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packetx.github.io/g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Grism-F2T12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使用手冊</a:t>
            </a:r>
          </a:p>
        </p:txBody>
      </p:sp>
    </p:spTree>
    <p:extLst>
      <p:ext uri="{BB962C8B-B14F-4D97-AF65-F5344CB8AC3E}">
        <p14:creationId xmlns:p14="http://schemas.microsoft.com/office/powerpoint/2010/main" val="1049623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220787"/>
              </p:ext>
            </p:extLst>
          </p:nvPr>
        </p:nvGraphicFramePr>
        <p:xfrm>
          <a:off x="1450759" y="2317072"/>
          <a:ext cx="8465598" cy="1549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7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No.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When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Who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What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0.1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2019/12/10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Jay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新增</a:t>
                      </a:r>
                      <a:r>
                        <a:rPr lang="zh-TW" altLang="en-US" sz="1200" kern="1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文件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2021/08/02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Jay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新增</a:t>
                      </a:r>
                      <a:r>
                        <a:rPr lang="zh-TW" altLang="en-US" sz="1200" dirty="0"/>
                        <a:t>介接延伸用</a:t>
                      </a:r>
                      <a:r>
                        <a:rPr lang="en-US" altLang="zh-TW" sz="1200" dirty="0"/>
                        <a:t>switch</a:t>
                      </a:r>
                      <a:r>
                        <a:rPr lang="zh-TW" altLang="en-US" sz="1200" dirty="0"/>
                        <a:t>以及項目調整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69078660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2022/03/07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Jay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新增</a:t>
                      </a: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CECI</a:t>
                      </a: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進階案例探討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6436686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2022/03/17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Jay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新增</a:t>
                      </a: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GRISM XML</a:t>
                      </a: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範例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61553660"/>
                  </a:ext>
                </a:extLst>
              </a:tr>
            </a:tbl>
          </a:graphicData>
        </a:graphic>
      </p:graphicFrame>
      <p:sp>
        <p:nvSpPr>
          <p:cNvPr id="8" name="標題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Revision History</a:t>
            </a:r>
            <a:endParaRPr lang="zh-TW" altLang="zh-TW" b="1" dirty="0"/>
          </a:p>
        </p:txBody>
      </p:sp>
    </p:spTree>
    <p:extLst>
      <p:ext uri="{BB962C8B-B14F-4D97-AF65-F5344CB8AC3E}">
        <p14:creationId xmlns:p14="http://schemas.microsoft.com/office/powerpoint/2010/main" val="350846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圖片 170">
            <a:extLst>
              <a:ext uri="{FF2B5EF4-FFF2-40B4-BE49-F238E27FC236}">
                <a16:creationId xmlns:a16="http://schemas.microsoft.com/office/drawing/2014/main" id="{376649E5-AED3-4B25-A1A4-85E825C0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6" y="0"/>
            <a:ext cx="12030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2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2" y="0"/>
            <a:ext cx="10058400" cy="666549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833283" y="1509204"/>
            <a:ext cx="1544713" cy="50247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82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設備簡介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F2T12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40Gx2 (P0-P1)</a:t>
            </a:r>
          </a:p>
          <a:p>
            <a:r>
              <a:rPr lang="en-US" altLang="zh-TW" dirty="0"/>
              <a:t>10Gx12 (P2-P13)</a:t>
            </a:r>
          </a:p>
          <a:p>
            <a:r>
              <a:rPr lang="en-US" altLang="zh-TW" dirty="0"/>
              <a:t>1Gx1(Management)</a:t>
            </a:r>
          </a:p>
        </p:txBody>
      </p:sp>
      <p:sp>
        <p:nvSpPr>
          <p:cNvPr id="32" name="矩形 31"/>
          <p:cNvSpPr/>
          <p:nvPr/>
        </p:nvSpPr>
        <p:spPr>
          <a:xfrm>
            <a:off x="1205191" y="3816070"/>
            <a:ext cx="9163927" cy="11737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4168156" y="4503816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4869960" y="4508714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P5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4869960" y="408488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P4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5571764" y="4508714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P7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444335" y="4493777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M0</a:t>
            </a:r>
            <a:endParaRPr lang="zh-TW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5571764" y="408488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P6</a:t>
            </a:r>
            <a:endParaRPr lang="zh-TW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6273568" y="4503816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P9</a:t>
            </a:r>
            <a:endParaRPr lang="zh-TW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6273568" y="408488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P8</a:t>
            </a:r>
            <a:endParaRPr lang="zh-TW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4168119" y="408488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P2</a:t>
            </a:r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1768706" y="4270925"/>
            <a:ext cx="819964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P0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8835559" y="4508714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P11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8835559" y="408488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P10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9537363" y="4503816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P13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9537363" y="408488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P12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753388" y="4270925"/>
            <a:ext cx="819964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09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</a:t>
            </a:r>
            <a:r>
              <a:rPr lang="zh-TW" altLang="en-US" dirty="0"/>
              <a:t>操作畫面簡介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預設網址為 </a:t>
            </a:r>
            <a:r>
              <a:rPr lang="en-US" altLang="zh-TW" dirty="0">
                <a:hlinkClick r:id="rId2"/>
              </a:rPr>
              <a:t>https://192.168.1.160</a:t>
            </a:r>
            <a:endParaRPr lang="en-US" altLang="zh-TW" dirty="0"/>
          </a:p>
          <a:p>
            <a:r>
              <a:rPr lang="zh-TW" altLang="en-US" dirty="0"/>
              <a:t>預設帳號密碼</a:t>
            </a:r>
            <a:r>
              <a:rPr lang="en-US" altLang="zh-TW" dirty="0"/>
              <a:t> </a:t>
            </a:r>
            <a:r>
              <a:rPr lang="en-US" altLang="zh-TW" dirty="0" err="1"/>
              <a:t>packetx</a:t>
            </a:r>
            <a:r>
              <a:rPr lang="en-US" altLang="zh-TW" dirty="0"/>
              <a:t>/</a:t>
            </a:r>
            <a:r>
              <a:rPr lang="en-US" altLang="zh-TW" dirty="0" err="1"/>
              <a:t>packetx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8191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8647331" y="3641452"/>
            <a:ext cx="261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預設帳號密碼</a:t>
            </a:r>
            <a:r>
              <a:rPr lang="en-US" altLang="zh-TW" sz="2400" dirty="0"/>
              <a:t>: </a:t>
            </a:r>
            <a:r>
              <a:rPr lang="en-US" altLang="zh-TW" sz="2400" dirty="0" err="1"/>
              <a:t>packetx</a:t>
            </a:r>
            <a:r>
              <a:rPr lang="en-US" altLang="zh-TW" sz="2400" dirty="0"/>
              <a:t>/</a:t>
            </a:r>
            <a:r>
              <a:rPr lang="en-US" altLang="zh-TW" sz="2400" dirty="0" err="1"/>
              <a:t>packetx</a:t>
            </a:r>
            <a:endParaRPr lang="zh-TW" altLang="en-US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2821755-3C42-4142-921C-60811824A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749"/>
            <a:ext cx="12192000" cy="604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5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6F11688-55CD-40FD-BFFC-D5D846DD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142" y="4269467"/>
            <a:ext cx="5562600" cy="1325563"/>
          </a:xfrm>
        </p:spPr>
        <p:txBody>
          <a:bodyPr/>
          <a:lstStyle/>
          <a:p>
            <a:r>
              <a:rPr lang="zh-TW" altLang="en-US" dirty="0"/>
              <a:t>各介面的流量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B311E59-6819-4939-8C41-A4924BFB2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975"/>
            <a:ext cx="12192000" cy="598805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C471513-637D-4644-9914-862171B6DBDD}"/>
              </a:ext>
            </a:extLst>
          </p:cNvPr>
          <p:cNvSpPr txBox="1"/>
          <p:nvPr/>
        </p:nvSpPr>
        <p:spPr>
          <a:xfrm>
            <a:off x="6212541" y="5178030"/>
            <a:ext cx="40174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 </a:t>
            </a:r>
            <a:r>
              <a:rPr lang="zh-TW" altLang="en-US" sz="4800" dirty="0"/>
              <a:t>實體介面流量</a:t>
            </a:r>
          </a:p>
        </p:txBody>
      </p:sp>
    </p:spTree>
    <p:extLst>
      <p:ext uri="{BB962C8B-B14F-4D97-AF65-F5344CB8AC3E}">
        <p14:creationId xmlns:p14="http://schemas.microsoft.com/office/powerpoint/2010/main" val="1861764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0B10FCA-B885-4701-800F-A1ADA24B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742" y="4704895"/>
            <a:ext cx="5562600" cy="1325563"/>
          </a:xfrm>
        </p:spPr>
        <p:txBody>
          <a:bodyPr/>
          <a:lstStyle/>
          <a:p>
            <a:r>
              <a:rPr lang="en-US" altLang="zh-TW" dirty="0"/>
              <a:t>NetFlow</a:t>
            </a:r>
            <a:r>
              <a:rPr lang="zh-TW" altLang="en-US" dirty="0"/>
              <a:t>萃取設定</a:t>
            </a:r>
          </a:p>
        </p:txBody>
      </p:sp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FD526397-855A-49BD-A6D4-D5F20E00D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525"/>
            <a:ext cx="12192000" cy="59753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7AA5708-61F4-4482-8014-E38DAFBEC449}"/>
              </a:ext>
            </a:extLst>
          </p:cNvPr>
          <p:cNvSpPr txBox="1"/>
          <p:nvPr/>
        </p:nvSpPr>
        <p:spPr>
          <a:xfrm>
            <a:off x="6096000" y="4704895"/>
            <a:ext cx="35548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 err="1"/>
              <a:t>Netflow</a:t>
            </a:r>
            <a:r>
              <a:rPr lang="en-US" altLang="zh-TW" sz="4800" dirty="0"/>
              <a:t> </a:t>
            </a:r>
            <a:r>
              <a:rPr lang="zh-TW" altLang="en-US" sz="4800" dirty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219887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X-Tunnel </a:t>
            </a:r>
            <a:r>
              <a:rPr lang="zh-TW" altLang="en-US" dirty="0"/>
              <a:t>接收端設定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65012F-E3B7-40E9-9E86-61F6E12EC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8" y="428625"/>
            <a:ext cx="12192000" cy="60007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48A6914-BCA5-4E25-A2CC-738929BCFC6D}"/>
              </a:ext>
            </a:extLst>
          </p:cNvPr>
          <p:cNvSpPr txBox="1"/>
          <p:nvPr/>
        </p:nvSpPr>
        <p:spPr>
          <a:xfrm>
            <a:off x="5212080" y="4755180"/>
            <a:ext cx="3241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 </a:t>
            </a:r>
            <a:endParaRPr lang="zh-TW" altLang="en-US" sz="48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C5322A-7A6E-40B4-815C-3C12BDD1B673}"/>
              </a:ext>
            </a:extLst>
          </p:cNvPr>
          <p:cNvSpPr txBox="1"/>
          <p:nvPr/>
        </p:nvSpPr>
        <p:spPr>
          <a:xfrm>
            <a:off x="5740997" y="4732172"/>
            <a:ext cx="55354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 X-tunnel</a:t>
            </a:r>
            <a:r>
              <a:rPr lang="zh-TW" altLang="en-US" sz="4800" dirty="0"/>
              <a:t>接收端設定</a:t>
            </a:r>
          </a:p>
        </p:txBody>
      </p:sp>
    </p:spTree>
    <p:extLst>
      <p:ext uri="{BB962C8B-B14F-4D97-AF65-F5344CB8AC3E}">
        <p14:creationId xmlns:p14="http://schemas.microsoft.com/office/powerpoint/2010/main" val="3098718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X-Tunnel </a:t>
            </a:r>
            <a:r>
              <a:rPr lang="zh-TW" altLang="en-US" dirty="0"/>
              <a:t>發送端設定</a:t>
            </a:r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B7CF1E0A-0DB1-49B8-BA8F-6A3A8BB7A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975"/>
            <a:ext cx="12192000" cy="59880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497F630-1879-496D-922F-BE8DCF0F0659}"/>
              </a:ext>
            </a:extLst>
          </p:cNvPr>
          <p:cNvSpPr txBox="1"/>
          <p:nvPr/>
        </p:nvSpPr>
        <p:spPr>
          <a:xfrm>
            <a:off x="5740997" y="4732172"/>
            <a:ext cx="55354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 X-tunnel</a:t>
            </a:r>
            <a:r>
              <a:rPr lang="zh-TW" altLang="en-US" sz="4800" dirty="0"/>
              <a:t>發送端設定</a:t>
            </a:r>
          </a:p>
        </p:txBody>
      </p:sp>
    </p:spTree>
    <p:extLst>
      <p:ext uri="{BB962C8B-B14F-4D97-AF65-F5344CB8AC3E}">
        <p14:creationId xmlns:p14="http://schemas.microsoft.com/office/powerpoint/2010/main" val="1386971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98258ABD-F2EA-4D44-8728-496A28BC6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975"/>
            <a:ext cx="12192000" cy="598805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4BB4687-3566-441D-8DA7-F6F5C0761366}"/>
              </a:ext>
            </a:extLst>
          </p:cNvPr>
          <p:cNvSpPr txBox="1"/>
          <p:nvPr/>
        </p:nvSpPr>
        <p:spPr>
          <a:xfrm>
            <a:off x="5740997" y="4732172"/>
            <a:ext cx="42377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 </a:t>
            </a:r>
            <a:r>
              <a:rPr lang="en-US" altLang="zh-TW" sz="4800" dirty="0" err="1"/>
              <a:t>HeartBeat</a:t>
            </a:r>
            <a:r>
              <a:rPr lang="en-US" altLang="zh-TW" sz="4800" dirty="0"/>
              <a:t> </a:t>
            </a:r>
            <a:r>
              <a:rPr lang="zh-TW" altLang="en-US" sz="4800" dirty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541394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D3403BFE-B1D7-4E03-917F-EF251FC8D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25"/>
            <a:ext cx="12192000" cy="600075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E7ADD7E-3996-4B25-B877-B13E9EC8DCAC}"/>
              </a:ext>
            </a:extLst>
          </p:cNvPr>
          <p:cNvSpPr txBox="1"/>
          <p:nvPr/>
        </p:nvSpPr>
        <p:spPr>
          <a:xfrm>
            <a:off x="5740997" y="4732172"/>
            <a:ext cx="5922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 </a:t>
            </a:r>
            <a:r>
              <a:rPr lang="en-US" altLang="zh-TW" sz="4800" dirty="0" err="1"/>
              <a:t>HeartBeat</a:t>
            </a:r>
            <a:r>
              <a:rPr lang="en-US" altLang="zh-TW" sz="4800" dirty="0"/>
              <a:t> Syslog </a:t>
            </a:r>
            <a:r>
              <a:rPr lang="zh-TW" altLang="en-US" sz="4800" dirty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395855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文字 的圖片&#10;&#10;自動產生的描述">
            <a:extLst>
              <a:ext uri="{FF2B5EF4-FFF2-40B4-BE49-F238E27FC236}">
                <a16:creationId xmlns:a16="http://schemas.microsoft.com/office/drawing/2014/main" id="{0EDE0359-8FD8-4F6B-BA7B-654277644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652"/>
            <a:ext cx="12192000" cy="598805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1B5328-7DAB-475F-A13D-A53A9EF2CFCE}"/>
              </a:ext>
            </a:extLst>
          </p:cNvPr>
          <p:cNvSpPr txBox="1"/>
          <p:nvPr/>
        </p:nvSpPr>
        <p:spPr>
          <a:xfrm>
            <a:off x="4267797" y="5016652"/>
            <a:ext cx="7603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 Service Chain with </a:t>
            </a:r>
            <a:r>
              <a:rPr lang="en-US" altLang="zh-TW" sz="4800" dirty="0" err="1"/>
              <a:t>HeartBeat</a:t>
            </a:r>
            <a:endParaRPr lang="zh-TW" altLang="en-US" sz="48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7E92695-4724-4826-A988-1087DBE13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196" y="1564064"/>
            <a:ext cx="3618129" cy="322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79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介接延伸用</a:t>
            </a:r>
            <a:r>
              <a:rPr lang="en-US" altLang="zh-TW" dirty="0"/>
              <a:t>switch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205191" y="2130641"/>
            <a:ext cx="9480226" cy="10754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168156" y="2746038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P3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4869960" y="2750936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P5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4869960" y="2327105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P4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5571764" y="2750936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P7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7389176" y="2746038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M0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5571764" y="2327105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P6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6273568" y="2746038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P9</a:t>
            </a:r>
            <a:endParaRPr lang="zh-TW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6273568" y="2327105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P8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4168119" y="2327105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P2</a:t>
            </a:r>
            <a:endParaRPr lang="zh-TW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768706" y="2513147"/>
            <a:ext cx="819964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P0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378980" y="2761561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P11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8378980" y="2337730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P10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9080784" y="275666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P13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9080784" y="2337730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P12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2753388" y="2513147"/>
            <a:ext cx="819964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P1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1205191" y="4229178"/>
            <a:ext cx="9480226" cy="10796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altLang="zh-TW" dirty="0"/>
          </a:p>
        </p:txBody>
      </p:sp>
      <p:sp>
        <p:nvSpPr>
          <p:cNvPr id="40" name="矩形 39"/>
          <p:cNvSpPr/>
          <p:nvPr/>
        </p:nvSpPr>
        <p:spPr>
          <a:xfrm>
            <a:off x="1768706" y="4388204"/>
            <a:ext cx="819964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40G</a:t>
            </a:r>
            <a:endParaRPr lang="zh-TW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1768706" y="4816043"/>
            <a:ext cx="819964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100G</a:t>
            </a:r>
            <a:endParaRPr lang="zh-TW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2742203" y="4816043"/>
            <a:ext cx="819964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100G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742203" y="4387079"/>
            <a:ext cx="819964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40G</a:t>
            </a:r>
            <a:endParaRPr lang="zh-TW" altLang="en-US" dirty="0"/>
          </a:p>
        </p:txBody>
      </p:sp>
      <p:sp>
        <p:nvSpPr>
          <p:cNvPr id="8" name="上-下雙向箭號 7"/>
          <p:cNvSpPr/>
          <p:nvPr/>
        </p:nvSpPr>
        <p:spPr>
          <a:xfrm>
            <a:off x="1936372" y="2831199"/>
            <a:ext cx="484632" cy="155588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上-下雙向箭號 45"/>
          <p:cNvSpPr/>
          <p:nvPr/>
        </p:nvSpPr>
        <p:spPr>
          <a:xfrm>
            <a:off x="2941121" y="2831199"/>
            <a:ext cx="484632" cy="155588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DFD43E-ED98-4486-9834-F1A091DA3D04}"/>
              </a:ext>
            </a:extLst>
          </p:cNvPr>
          <p:cNvSpPr/>
          <p:nvPr/>
        </p:nvSpPr>
        <p:spPr>
          <a:xfrm>
            <a:off x="9688583" y="4816043"/>
            <a:ext cx="849560" cy="3180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Switch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7746CA3-8660-496E-BB2F-A2EAF0AE21DB}"/>
              </a:ext>
            </a:extLst>
          </p:cNvPr>
          <p:cNvSpPr/>
          <p:nvPr/>
        </p:nvSpPr>
        <p:spPr>
          <a:xfrm>
            <a:off x="3695571" y="4811145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ED3DD8-9CEB-4A93-888F-F8FB33C07C43}"/>
              </a:ext>
            </a:extLst>
          </p:cNvPr>
          <p:cNvSpPr/>
          <p:nvPr/>
        </p:nvSpPr>
        <p:spPr>
          <a:xfrm>
            <a:off x="4397375" y="481604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EB2B97D-4217-4C6A-81A1-023B9D390F8E}"/>
              </a:ext>
            </a:extLst>
          </p:cNvPr>
          <p:cNvSpPr/>
          <p:nvPr/>
        </p:nvSpPr>
        <p:spPr>
          <a:xfrm>
            <a:off x="4397375" y="4392212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45A101B-3AF6-45D3-9EFF-8AC8FF992FB0}"/>
              </a:ext>
            </a:extLst>
          </p:cNvPr>
          <p:cNvSpPr/>
          <p:nvPr/>
        </p:nvSpPr>
        <p:spPr>
          <a:xfrm>
            <a:off x="5099179" y="4816043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7EA8F99-7953-47BB-8826-C77543850642}"/>
              </a:ext>
            </a:extLst>
          </p:cNvPr>
          <p:cNvSpPr/>
          <p:nvPr/>
        </p:nvSpPr>
        <p:spPr>
          <a:xfrm>
            <a:off x="5099179" y="4392212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69B6E13-F9D2-4F1C-A429-6CFB2394E832}"/>
              </a:ext>
            </a:extLst>
          </p:cNvPr>
          <p:cNvSpPr/>
          <p:nvPr/>
        </p:nvSpPr>
        <p:spPr>
          <a:xfrm>
            <a:off x="5800983" y="4811145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E7D450F-3AFC-433D-B56B-C5D47AE70252}"/>
              </a:ext>
            </a:extLst>
          </p:cNvPr>
          <p:cNvSpPr/>
          <p:nvPr/>
        </p:nvSpPr>
        <p:spPr>
          <a:xfrm>
            <a:off x="5800983" y="4392212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BCCFA1E-464A-41EE-A804-2AECB4B184CB}"/>
              </a:ext>
            </a:extLst>
          </p:cNvPr>
          <p:cNvSpPr/>
          <p:nvPr/>
        </p:nvSpPr>
        <p:spPr>
          <a:xfrm>
            <a:off x="3695534" y="4392212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33F998-1CC6-41A5-8A40-A96765801547}"/>
              </a:ext>
            </a:extLst>
          </p:cNvPr>
          <p:cNvSpPr/>
          <p:nvPr/>
        </p:nvSpPr>
        <p:spPr>
          <a:xfrm>
            <a:off x="6479643" y="4806012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EADF9FD-C4B9-4632-BC53-B324297D5791}"/>
              </a:ext>
            </a:extLst>
          </p:cNvPr>
          <p:cNvSpPr/>
          <p:nvPr/>
        </p:nvSpPr>
        <p:spPr>
          <a:xfrm>
            <a:off x="7181447" y="4810910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F981BDD-2C1B-42E8-9374-F69E89BB5FB5}"/>
              </a:ext>
            </a:extLst>
          </p:cNvPr>
          <p:cNvSpPr/>
          <p:nvPr/>
        </p:nvSpPr>
        <p:spPr>
          <a:xfrm>
            <a:off x="7181447" y="4387079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C248195-ECC6-423E-A5A5-D8B6C9432623}"/>
              </a:ext>
            </a:extLst>
          </p:cNvPr>
          <p:cNvSpPr/>
          <p:nvPr/>
        </p:nvSpPr>
        <p:spPr>
          <a:xfrm>
            <a:off x="7883251" y="4810910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CEE6F98-59D4-4F9C-843A-AF41C0892638}"/>
              </a:ext>
            </a:extLst>
          </p:cNvPr>
          <p:cNvSpPr/>
          <p:nvPr/>
        </p:nvSpPr>
        <p:spPr>
          <a:xfrm>
            <a:off x="7883251" y="4387079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A1DB7E9-CA34-46B6-BDD5-A54E58D970FE}"/>
              </a:ext>
            </a:extLst>
          </p:cNvPr>
          <p:cNvSpPr/>
          <p:nvPr/>
        </p:nvSpPr>
        <p:spPr>
          <a:xfrm>
            <a:off x="8585055" y="4806012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26ADCE-F56E-4757-AE97-219809588BC2}"/>
              </a:ext>
            </a:extLst>
          </p:cNvPr>
          <p:cNvSpPr/>
          <p:nvPr/>
        </p:nvSpPr>
        <p:spPr>
          <a:xfrm>
            <a:off x="8585055" y="4387079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1D5E94B-6745-4B99-8B10-F9E8A51DFEEB}"/>
              </a:ext>
            </a:extLst>
          </p:cNvPr>
          <p:cNvSpPr/>
          <p:nvPr/>
        </p:nvSpPr>
        <p:spPr>
          <a:xfrm>
            <a:off x="6479606" y="4387079"/>
            <a:ext cx="576000" cy="31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dirty="0"/>
              <a:t>10G</a:t>
            </a:r>
            <a:endParaRPr lang="zh-TW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DCC80AC-3AD3-41FB-8561-F7FE06AD5E1E}"/>
              </a:ext>
            </a:extLst>
          </p:cNvPr>
          <p:cNvSpPr/>
          <p:nvPr/>
        </p:nvSpPr>
        <p:spPr>
          <a:xfrm>
            <a:off x="9771612" y="2780238"/>
            <a:ext cx="849560" cy="3180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Grism</a:t>
            </a:r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4078D05F-FAA6-4CCA-8D0C-8D5EDF3873D3}"/>
              </a:ext>
            </a:extLst>
          </p:cNvPr>
          <p:cNvSpPr/>
          <p:nvPr/>
        </p:nvSpPr>
        <p:spPr>
          <a:xfrm>
            <a:off x="1779891" y="3426823"/>
            <a:ext cx="1793461" cy="518359"/>
          </a:xfrm>
          <a:prstGeom prst="ellipse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LAG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95251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室內 的圖片&#10;&#10;自動產生的描述">
            <a:extLst>
              <a:ext uri="{FF2B5EF4-FFF2-40B4-BE49-F238E27FC236}">
                <a16:creationId xmlns:a16="http://schemas.microsoft.com/office/drawing/2014/main" id="{A649DD5F-75FF-4915-ADE0-AEEFE8754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926"/>
            <a:ext cx="12192000" cy="622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35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D44D2DC9-C405-426A-94B0-5809A86DE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3906"/>
            <a:ext cx="12192000" cy="623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53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2D81DC26-1DFC-448D-987A-40261CD4C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92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0993E08B-B2FF-4075-8D83-046587F1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077" y="585279"/>
            <a:ext cx="6404430" cy="1325563"/>
          </a:xfrm>
        </p:spPr>
        <p:txBody>
          <a:bodyPr/>
          <a:lstStyle/>
          <a:p>
            <a:r>
              <a:rPr lang="zh-TW" altLang="en-US" dirty="0"/>
              <a:t>從</a:t>
            </a:r>
            <a:r>
              <a:rPr lang="en-US" altLang="zh-TW" dirty="0"/>
              <a:t>web</a:t>
            </a:r>
            <a:r>
              <a:rPr lang="zh-TW" altLang="en-US" dirty="0"/>
              <a:t>介面輸入</a:t>
            </a:r>
            <a:r>
              <a:rPr lang="en-US" altLang="zh-TW" dirty="0"/>
              <a:t>XML script</a:t>
            </a:r>
            <a:endParaRPr lang="zh-TW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C3E8CA00-6D13-4534-80CE-A29421FDB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975"/>
            <a:ext cx="12192000" cy="59880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40689FE-C85D-4626-A2C4-CC5D2DD3300C}"/>
              </a:ext>
            </a:extLst>
          </p:cNvPr>
          <p:cNvSpPr txBox="1"/>
          <p:nvPr/>
        </p:nvSpPr>
        <p:spPr>
          <a:xfrm>
            <a:off x="5212080" y="4755180"/>
            <a:ext cx="58544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 GRISM</a:t>
            </a:r>
            <a:r>
              <a:rPr lang="zh-TW" altLang="en-US" sz="4800" dirty="0"/>
              <a:t> </a:t>
            </a:r>
            <a:r>
              <a:rPr lang="en-US" altLang="zh-TW" sz="4800" dirty="0"/>
              <a:t>XML</a:t>
            </a:r>
            <a:r>
              <a:rPr lang="zh-TW" altLang="en-US" sz="4800" dirty="0"/>
              <a:t> 輸入頁面</a:t>
            </a:r>
          </a:p>
        </p:txBody>
      </p:sp>
    </p:spTree>
    <p:extLst>
      <p:ext uri="{BB962C8B-B14F-4D97-AF65-F5344CB8AC3E}">
        <p14:creationId xmlns:p14="http://schemas.microsoft.com/office/powerpoint/2010/main" val="4148327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GRISM XML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5128727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&lt;run&gt;&lt;/run&gt;</a:t>
            </a:r>
          </a:p>
          <a:p>
            <a:r>
              <a:rPr lang="en-US" altLang="zh-TW" dirty="0"/>
              <a:t>&lt;filter id=“1”&gt;&lt;/filter&gt;</a:t>
            </a:r>
          </a:p>
          <a:p>
            <a:pPr lvl="1"/>
            <a:r>
              <a:rPr lang="en-US" altLang="zh-TW" dirty="0"/>
              <a:t>&lt;and&gt;,&lt;or&gt;</a:t>
            </a:r>
          </a:p>
          <a:p>
            <a:pPr lvl="1"/>
            <a:r>
              <a:rPr lang="en-US" altLang="zh-TW" dirty="0"/>
              <a:t>&lt;find /&gt;</a:t>
            </a:r>
          </a:p>
          <a:p>
            <a:r>
              <a:rPr lang="en-US" altLang="zh-TW" dirty="0"/>
              <a:t>&lt;chain&gt;&lt;/chain&gt;</a:t>
            </a:r>
          </a:p>
          <a:p>
            <a:pPr lvl="1"/>
            <a:r>
              <a:rPr lang="en-US" altLang="zh-TW" dirty="0"/>
              <a:t>&lt;in&gt;P0&lt;/in&gt;</a:t>
            </a:r>
          </a:p>
          <a:p>
            <a:pPr lvl="1"/>
            <a:r>
              <a:rPr lang="en-US" altLang="zh-TW" dirty="0"/>
              <a:t>&lt;fid&gt;F1&lt;/fid&gt;</a:t>
            </a:r>
          </a:p>
          <a:p>
            <a:pPr lvl="1"/>
            <a:r>
              <a:rPr lang="en-US" altLang="zh-TW" dirty="0"/>
              <a:t>&lt;out&gt;P1&lt;/out&gt;</a:t>
            </a:r>
          </a:p>
          <a:p>
            <a:pPr lvl="1"/>
            <a:r>
              <a:rPr lang="en-US" altLang="zh-TW" dirty="0"/>
              <a:t>&lt;next type=“</a:t>
            </a:r>
            <a:r>
              <a:rPr lang="en-US" altLang="zh-TW" dirty="0" err="1"/>
              <a:t>notmatch</a:t>
            </a:r>
            <a:r>
              <a:rPr lang="en-US" altLang="zh-TW" dirty="0"/>
              <a:t>”&gt;&lt;/next&gt; </a:t>
            </a:r>
          </a:p>
          <a:p>
            <a:pPr lvl="1"/>
            <a:r>
              <a:rPr lang="en-US" altLang="zh-TW" dirty="0"/>
              <a:t>&lt;next </a:t>
            </a:r>
            <a:r>
              <a:rPr lang="en-US" altLang="zh-TW"/>
              <a:t>type=“match</a:t>
            </a:r>
            <a:r>
              <a:rPr lang="en-US" altLang="zh-TW" dirty="0"/>
              <a:t>”&gt;&lt;/next&gt;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30BCA1DE-D968-45B2-BC00-B5248C37B553}"/>
              </a:ext>
            </a:extLst>
          </p:cNvPr>
          <p:cNvSpPr txBox="1">
            <a:spLocks/>
          </p:cNvSpPr>
          <p:nvPr/>
        </p:nvSpPr>
        <p:spPr>
          <a:xfrm>
            <a:off x="6225074" y="1825625"/>
            <a:ext cx="477882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dirty="0"/>
              <a:t>&lt;output id=“1”&gt;&lt;/output&gt;</a:t>
            </a:r>
          </a:p>
          <a:p>
            <a:pPr lvl="1"/>
            <a:r>
              <a:rPr lang="en-US" altLang="zh-TW" sz="2600" dirty="0"/>
              <a:t>&lt;port&gt;P0&lt;port&gt;</a:t>
            </a:r>
          </a:p>
          <a:p>
            <a:pPr lvl="1"/>
            <a:r>
              <a:rPr lang="en-US" altLang="zh-TW" sz="2600" dirty="0"/>
              <a:t>&lt;stripping&gt;</a:t>
            </a:r>
            <a:r>
              <a:rPr lang="en-US" altLang="zh-TW" sz="2600" dirty="0" err="1"/>
              <a:t>vlan</a:t>
            </a:r>
            <a:r>
              <a:rPr lang="en-US" altLang="zh-TW" sz="2600" dirty="0"/>
              <a:t>&lt;/stripping&gt;</a:t>
            </a:r>
            <a:endParaRPr lang="en-US" altLang="zh-TW" sz="2600" dirty="0">
              <a:hlinkClick r:id="rId2"/>
            </a:endParaRPr>
          </a:p>
          <a:p>
            <a:r>
              <a:rPr lang="en-US" altLang="zh-TW" dirty="0"/>
              <a:t>&lt;action id=“1” type=“input-packet-process“&gt;&lt;/action&gt;</a:t>
            </a:r>
          </a:p>
          <a:p>
            <a:pPr lvl="1"/>
            <a:r>
              <a:rPr lang="en-US" altLang="zh-TW" dirty="0"/>
              <a:t>&lt;port&gt;P0&lt;port&gt;</a:t>
            </a:r>
          </a:p>
          <a:p>
            <a:pPr lvl="1"/>
            <a:r>
              <a:rPr lang="en-US" altLang="zh-TW" dirty="0"/>
              <a:t>&lt;Q&gt;2000&lt;/Q&gt;</a:t>
            </a:r>
            <a:endParaRPr lang="en-US" altLang="zh-TW" dirty="0">
              <a:hlinkClick r:id="rId2"/>
            </a:endParaRPr>
          </a:p>
          <a:p>
            <a:pPr marL="457200" lvl="1" indent="0">
              <a:buNone/>
            </a:pPr>
            <a:endParaRPr lang="en-US" altLang="zh-TW" dirty="0">
              <a:hlinkClick r:id="rId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hlinkClick r:id="rId2"/>
              </a:rPr>
              <a:t>https://packetx.github.io/gml</a:t>
            </a:r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72416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&lt;filter&gt;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825625"/>
            <a:ext cx="9522350" cy="551815"/>
          </a:xfrm>
        </p:spPr>
        <p:txBody>
          <a:bodyPr>
            <a:normAutofit/>
          </a:bodyPr>
          <a:lstStyle/>
          <a:p>
            <a:r>
              <a:rPr lang="en-US" altLang="zh-TW" dirty="0"/>
              <a:t>L2-L4</a:t>
            </a:r>
            <a:r>
              <a:rPr lang="zh-TW" altLang="en-US" dirty="0"/>
              <a:t>流量過濾</a:t>
            </a:r>
            <a:endParaRPr lang="en-US" altLang="zh-TW" dirty="0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905394" y="2867411"/>
            <a:ext cx="9242653" cy="30761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id=“1”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&lt;and&gt;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tcp.port</a:t>
            </a:r>
            <a:r>
              <a:rPr lang="en-US" altLang="zh-TW" sz="2400" dirty="0"/>
              <a:t>” relation=“==” content=“443”&gt;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ip.dst</a:t>
            </a:r>
            <a:r>
              <a:rPr lang="en-US" altLang="zh-TW" sz="2400" dirty="0"/>
              <a:t>” relation=“==” content=“122.116.229.84”&gt;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&lt;/and&gt;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04640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8039"/>
            <a:ext cx="10515600" cy="1325563"/>
          </a:xfrm>
        </p:spPr>
        <p:txBody>
          <a:bodyPr/>
          <a:lstStyle/>
          <a:p>
            <a:r>
              <a:rPr lang="en-US" altLang="zh-TW" dirty="0"/>
              <a:t>&lt;filter&gt;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506311"/>
            <a:ext cx="9522350" cy="551815"/>
          </a:xfrm>
        </p:spPr>
        <p:txBody>
          <a:bodyPr>
            <a:normAutofit/>
          </a:bodyPr>
          <a:lstStyle/>
          <a:p>
            <a:r>
              <a:rPr lang="en-US" altLang="zh-TW" dirty="0"/>
              <a:t>L7</a:t>
            </a:r>
            <a:r>
              <a:rPr lang="zh-TW" altLang="en-US" dirty="0"/>
              <a:t>流量過濾</a:t>
            </a:r>
            <a:endParaRPr lang="en-US" altLang="zh-TW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1076739" y="2367235"/>
            <a:ext cx="10515600" cy="376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id=“2”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=“yes”&gt;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name=“regex”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\x0bgooglevideo\x03com</a:t>
            </a:r>
            <a:r>
              <a:rPr lang="en-US" altLang="zh-TW" sz="2400" dirty="0"/>
              <a:t>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name=“regex”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{s}\/.*Host: yahoo\.com</a:t>
            </a:r>
            <a:r>
              <a:rPr lang="en-US" altLang="zh-TW" sz="2400" dirty="0"/>
              <a:t>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</a:p>
          <a:p>
            <a:pPr marL="0" indent="0">
              <a:buNone/>
            </a:pPr>
            <a:endParaRPr lang="en-US" altLang="zh-TW" sz="18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ps1: </a:t>
            </a:r>
            <a:r>
              <a:rPr lang="en-US" altLang="zh-TW" sz="1800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\x0bgooglevideo\x03com  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是要比對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DNS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訊息內的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domain </a:t>
            </a:r>
            <a:r>
              <a:rPr lang="en-US" altLang="zh-TW" sz="1800" b="1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googlevideo.com</a:t>
            </a:r>
          </a:p>
          <a:p>
            <a:pPr marL="0" indent="0">
              <a:buNone/>
            </a:pP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ps2: </a:t>
            </a:r>
            <a:r>
              <a:rPr lang="en-US" altLang="zh-TW" sz="1800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{s}\/.*Host: yahoo\.com     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是要比對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HTTP host </a:t>
            </a:r>
            <a:r>
              <a:rPr lang="en-US" altLang="zh-TW" sz="1800" b="1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yahoo.com</a:t>
            </a:r>
          </a:p>
          <a:p>
            <a:pPr marL="0" indent="0">
              <a:buNone/>
            </a:pP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比對成功後接下來屬於相同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session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之封包會被濾出</a:t>
            </a:r>
            <a:endParaRPr lang="en-US" altLang="zh-TW" sz="1800" dirty="0">
              <a:solidFill>
                <a:srgbClr val="222222"/>
              </a:solidFill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86148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8039"/>
            <a:ext cx="10515600" cy="1325563"/>
          </a:xfrm>
        </p:spPr>
        <p:txBody>
          <a:bodyPr/>
          <a:lstStyle/>
          <a:p>
            <a:r>
              <a:rPr lang="en-US" altLang="zh-TW" dirty="0"/>
              <a:t>&lt;filter&gt;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506311"/>
            <a:ext cx="9522350" cy="551815"/>
          </a:xfrm>
        </p:spPr>
        <p:txBody>
          <a:bodyPr>
            <a:normAutofit/>
          </a:bodyPr>
          <a:lstStyle/>
          <a:p>
            <a:r>
              <a:rPr lang="en-US" altLang="zh-TW" dirty="0"/>
              <a:t>L7</a:t>
            </a:r>
            <a:r>
              <a:rPr lang="zh-TW" altLang="en-US" dirty="0"/>
              <a:t>流量過濾</a:t>
            </a:r>
            <a:endParaRPr lang="en-US" altLang="zh-TW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1076739" y="2367235"/>
            <a:ext cx="10515600" cy="376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id=“2”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=“yes”&gt;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dirty="0"/>
              <a:t>       </a:t>
            </a:r>
            <a:r>
              <a:rPr lang="en-US" altLang="zh-TW" sz="2400" dirty="0"/>
              <a:t> &lt;find name=“dns.qry.name” relation=“==” content=“googlevideo.com”&gt;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ssl.server_name</a:t>
            </a:r>
            <a:r>
              <a:rPr lang="en-US" altLang="zh-TW" sz="2400" dirty="0"/>
              <a:t>” relation=“==” content=“facebook.com”&gt;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name=“http.request.url”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www.url.com.tw</a:t>
            </a:r>
            <a:r>
              <a:rPr lang="en-US" altLang="zh-TW" sz="2400" dirty="0"/>
              <a:t>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</a:p>
        </p:txBody>
      </p:sp>
    </p:spTree>
    <p:extLst>
      <p:ext uri="{BB962C8B-B14F-4D97-AF65-F5344CB8AC3E}">
        <p14:creationId xmlns:p14="http://schemas.microsoft.com/office/powerpoint/2010/main" val="4240795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665323"/>
            <a:ext cx="9522350" cy="551815"/>
          </a:xfrm>
        </p:spPr>
        <p:txBody>
          <a:bodyPr>
            <a:normAutofit/>
          </a:bodyPr>
          <a:lstStyle/>
          <a:p>
            <a:r>
              <a:rPr lang="en-US" altLang="zh-TW" dirty="0"/>
              <a:t>In/out</a:t>
            </a:r>
            <a:r>
              <a:rPr lang="zh-TW" altLang="en-US" dirty="0"/>
              <a:t>流量路徑規劃</a:t>
            </a:r>
            <a:endParaRPr lang="en-US" altLang="zh-TW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1063753" y="2247667"/>
            <a:ext cx="2663694" cy="45094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dirty="0"/>
              <a:t>&lt;chain&gt;</a:t>
            </a:r>
          </a:p>
          <a:p>
            <a:pPr marL="0" indent="0">
              <a:buNone/>
            </a:pPr>
            <a:r>
              <a:rPr lang="en-US" altLang="zh-TW" sz="1600" dirty="0"/>
              <a:t>    &lt;in&gt;P0&lt;/in&gt;</a:t>
            </a:r>
          </a:p>
          <a:p>
            <a:pPr marL="0" indent="0">
              <a:buNone/>
            </a:pPr>
            <a:r>
              <a:rPr lang="en-US" altLang="zh-TW" sz="16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1600" dirty="0"/>
              <a:t>    &lt;next type="match"&gt;</a:t>
            </a:r>
          </a:p>
          <a:p>
            <a:pPr marL="0" indent="0">
              <a:buNone/>
            </a:pPr>
            <a:r>
              <a:rPr lang="en-US" altLang="zh-TW" sz="1600" dirty="0"/>
              <a:t>        &lt;fid&gt;F2&lt;/fid&gt;</a:t>
            </a:r>
          </a:p>
          <a:p>
            <a:pPr marL="0" indent="0">
              <a:buNone/>
            </a:pPr>
            <a:r>
              <a:rPr lang="en-US" altLang="zh-TW" sz="1600" dirty="0"/>
              <a:t>        &lt;out&gt;P2&lt;/out&gt;</a:t>
            </a:r>
          </a:p>
          <a:p>
            <a:pPr marL="0" indent="0">
              <a:buNone/>
            </a:pPr>
            <a:r>
              <a:rPr lang="en-US" altLang="zh-TW" sz="1600" dirty="0"/>
              <a:t>    &lt;/next&gt;</a:t>
            </a:r>
          </a:p>
          <a:p>
            <a:pPr marL="0" indent="0">
              <a:buNone/>
            </a:pPr>
            <a:r>
              <a:rPr lang="zh-TW" altLang="en-US" sz="1600" dirty="0"/>
              <a:t>    </a:t>
            </a:r>
            <a:r>
              <a:rPr lang="en-US" altLang="zh-TW" sz="1600" dirty="0"/>
              <a:t>&lt;next type="</a:t>
            </a:r>
            <a:r>
              <a:rPr lang="en-US" altLang="zh-TW" sz="1600" dirty="0" err="1"/>
              <a:t>notmatch</a:t>
            </a:r>
            <a:r>
              <a:rPr lang="en-US" altLang="zh-TW" sz="1600" dirty="0"/>
              <a:t>"&gt;</a:t>
            </a:r>
          </a:p>
          <a:p>
            <a:pPr marL="0" indent="0">
              <a:buNone/>
            </a:pPr>
            <a:r>
              <a:rPr lang="en-US" altLang="zh-TW" sz="1600" dirty="0"/>
              <a:t>        &lt;fid&gt;F3&lt;/fid&gt;</a:t>
            </a:r>
          </a:p>
          <a:p>
            <a:pPr marL="0" indent="0">
              <a:buNone/>
            </a:pPr>
            <a:r>
              <a:rPr lang="en-US" altLang="zh-TW" sz="1600" dirty="0"/>
              <a:t>        &lt;out&gt;P3&lt;/out&gt;</a:t>
            </a:r>
          </a:p>
          <a:p>
            <a:pPr marL="0" indent="0">
              <a:buNone/>
            </a:pPr>
            <a:r>
              <a:rPr lang="en-US" altLang="zh-TW" sz="1600" dirty="0"/>
              <a:t>    &lt;/next&gt;</a:t>
            </a:r>
          </a:p>
          <a:p>
            <a:pPr marL="0" indent="0">
              <a:buNone/>
            </a:pPr>
            <a:r>
              <a:rPr lang="en-US" altLang="zh-TW" sz="1600" dirty="0"/>
              <a:t>&lt;/chain&gt;</a:t>
            </a:r>
            <a:endParaRPr lang="zh-TW" altLang="en-US" sz="1600" dirty="0"/>
          </a:p>
        </p:txBody>
      </p:sp>
      <p:sp>
        <p:nvSpPr>
          <p:cNvPr id="82" name="內容版面配置區 2"/>
          <p:cNvSpPr txBox="1">
            <a:spLocks/>
          </p:cNvSpPr>
          <p:nvPr/>
        </p:nvSpPr>
        <p:spPr>
          <a:xfrm>
            <a:off x="5921027" y="1562094"/>
            <a:ext cx="4158256" cy="45094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TW" altLang="en-US" sz="1600" dirty="0"/>
          </a:p>
        </p:txBody>
      </p:sp>
      <p:sp>
        <p:nvSpPr>
          <p:cNvPr id="104" name="流程圖: 程序 103"/>
          <p:cNvSpPr/>
          <p:nvPr/>
        </p:nvSpPr>
        <p:spPr>
          <a:xfrm>
            <a:off x="4814251" y="3039195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5" name="圓角矩形 104"/>
          <p:cNvSpPr/>
          <p:nvPr/>
        </p:nvSpPr>
        <p:spPr>
          <a:xfrm>
            <a:off x="5941293" y="3047326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106" name="直線單箭頭接點 105"/>
          <p:cNvCxnSpPr>
            <a:stCxn id="104" idx="3"/>
            <a:endCxn id="105" idx="1"/>
          </p:cNvCxnSpPr>
          <p:nvPr/>
        </p:nvCxnSpPr>
        <p:spPr>
          <a:xfrm>
            <a:off x="5437148" y="3282082"/>
            <a:ext cx="504145" cy="8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接點 106"/>
          <p:cNvCxnSpPr>
            <a:stCxn id="105" idx="3"/>
            <a:endCxn id="111" idx="1"/>
          </p:cNvCxnSpPr>
          <p:nvPr/>
        </p:nvCxnSpPr>
        <p:spPr>
          <a:xfrm>
            <a:off x="6558513" y="3290214"/>
            <a:ext cx="572063" cy="17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流程圖: 程序 107"/>
          <p:cNvSpPr/>
          <p:nvPr/>
        </p:nvSpPr>
        <p:spPr>
          <a:xfrm>
            <a:off x="8375259" y="3047505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9" name="流程圖: 程序 108"/>
          <p:cNvSpPr/>
          <p:nvPr/>
        </p:nvSpPr>
        <p:spPr>
          <a:xfrm>
            <a:off x="8375259" y="3775989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0" name="肘形接點 109"/>
          <p:cNvCxnSpPr>
            <a:stCxn id="105" idx="2"/>
            <a:endCxn id="112" idx="1"/>
          </p:cNvCxnSpPr>
          <p:nvPr/>
        </p:nvCxnSpPr>
        <p:spPr>
          <a:xfrm rot="16200000" flipH="1">
            <a:off x="6447351" y="3335652"/>
            <a:ext cx="485776" cy="8806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圓角矩形 110"/>
          <p:cNvSpPr/>
          <p:nvPr/>
        </p:nvSpPr>
        <p:spPr>
          <a:xfrm>
            <a:off x="7130576" y="3047505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F2</a:t>
            </a:r>
            <a:endParaRPr lang="zh-TW" altLang="en-US" dirty="0"/>
          </a:p>
        </p:txBody>
      </p:sp>
      <p:sp>
        <p:nvSpPr>
          <p:cNvPr id="112" name="圓角矩形 111"/>
          <p:cNvSpPr/>
          <p:nvPr/>
        </p:nvSpPr>
        <p:spPr>
          <a:xfrm>
            <a:off x="7130576" y="3775989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F3</a:t>
            </a:r>
            <a:endParaRPr lang="zh-TW" altLang="en-US" dirty="0"/>
          </a:p>
        </p:txBody>
      </p:sp>
      <p:cxnSp>
        <p:nvCxnSpPr>
          <p:cNvPr id="113" name="直線單箭頭接點 112"/>
          <p:cNvCxnSpPr>
            <a:stCxn id="111" idx="3"/>
            <a:endCxn id="108" idx="1"/>
          </p:cNvCxnSpPr>
          <p:nvPr/>
        </p:nvCxnSpPr>
        <p:spPr>
          <a:xfrm flipV="1">
            <a:off x="7747796" y="3290392"/>
            <a:ext cx="62746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stCxn id="112" idx="3"/>
            <a:endCxn id="109" idx="1"/>
          </p:cNvCxnSpPr>
          <p:nvPr/>
        </p:nvCxnSpPr>
        <p:spPr>
          <a:xfrm flipV="1">
            <a:off x="7747796" y="4018876"/>
            <a:ext cx="62746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6486635" y="292870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5884987" y="34311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7661610" y="292870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118" name="文字方塊 117"/>
          <p:cNvSpPr txBox="1"/>
          <p:nvPr/>
        </p:nvSpPr>
        <p:spPr>
          <a:xfrm>
            <a:off x="7687461" y="3662281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9228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r>
              <a:rPr lang="zh-TW" altLang="en-US" dirty="0"/>
              <a:t>匯聚以及分流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3315694" y="3137372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P0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/>
          <p:cNvCxnSpPr>
            <a:cxnSpLocks/>
            <a:stCxn id="4" idx="3"/>
          </p:cNvCxnSpPr>
          <p:nvPr/>
        </p:nvCxnSpPr>
        <p:spPr>
          <a:xfrm>
            <a:off x="3938591" y="3380259"/>
            <a:ext cx="567155" cy="3375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cxnSpLocks/>
            <a:stCxn id="34" idx="3"/>
          </p:cNvCxnSpPr>
          <p:nvPr/>
        </p:nvCxnSpPr>
        <p:spPr>
          <a:xfrm flipV="1">
            <a:off x="3938591" y="3717787"/>
            <a:ext cx="567155" cy="391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>
            <a:cxnSpLocks/>
            <a:endCxn id="33" idx="1"/>
          </p:cNvCxnSpPr>
          <p:nvPr/>
        </p:nvCxnSpPr>
        <p:spPr>
          <a:xfrm>
            <a:off x="5058902" y="3717787"/>
            <a:ext cx="1297015" cy="47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流程圖: 程序 73"/>
          <p:cNvSpPr/>
          <p:nvPr/>
        </p:nvSpPr>
        <p:spPr>
          <a:xfrm>
            <a:off x="6360841" y="2698779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P4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流程圖: 程序 80"/>
          <p:cNvSpPr/>
          <p:nvPr/>
        </p:nvSpPr>
        <p:spPr>
          <a:xfrm>
            <a:off x="6360841" y="4300107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P6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流程圖: 程序 81"/>
          <p:cNvSpPr/>
          <p:nvPr/>
        </p:nvSpPr>
        <p:spPr>
          <a:xfrm>
            <a:off x="6360841" y="5032121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P7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5" name="肘形接點 134"/>
          <p:cNvCxnSpPr>
            <a:cxnSpLocks/>
            <a:endCxn id="81" idx="1"/>
          </p:cNvCxnSpPr>
          <p:nvPr/>
        </p:nvCxnSpPr>
        <p:spPr>
          <a:xfrm>
            <a:off x="5058902" y="3717787"/>
            <a:ext cx="1301939" cy="82520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圖: 程序 32"/>
          <p:cNvSpPr/>
          <p:nvPr/>
        </p:nvSpPr>
        <p:spPr>
          <a:xfrm>
            <a:off x="6355917" y="3479678"/>
            <a:ext cx="62214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P5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3315694" y="386603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2" name="肘形接點 51"/>
          <p:cNvCxnSpPr>
            <a:cxnSpLocks/>
            <a:endCxn id="74" idx="1"/>
          </p:cNvCxnSpPr>
          <p:nvPr/>
        </p:nvCxnSpPr>
        <p:spPr>
          <a:xfrm flipV="1">
            <a:off x="4790511" y="2941666"/>
            <a:ext cx="1570330" cy="776120"/>
          </a:xfrm>
          <a:prstGeom prst="bentConnector3">
            <a:avLst>
              <a:gd name="adj1" fmla="val 5856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雲朵形圖說文字 83"/>
          <p:cNvSpPr/>
          <p:nvPr/>
        </p:nvSpPr>
        <p:spPr>
          <a:xfrm>
            <a:off x="5503997" y="2304086"/>
            <a:ext cx="2748181" cy="2664597"/>
          </a:xfrm>
          <a:prstGeom prst="cloudCallout">
            <a:avLst>
              <a:gd name="adj1" fmla="val -60676"/>
              <a:gd name="adj2" fmla="val 1827"/>
            </a:avLst>
          </a:prstGeom>
          <a:noFill/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TW" dirty="0"/>
              <a:t>  </a:t>
            </a:r>
            <a:r>
              <a:rPr lang="zh-TW" altLang="en-US" dirty="0"/>
              <a:t>            </a:t>
            </a:r>
            <a:endParaRPr lang="en-US" altLang="zh-TW" dirty="0"/>
          </a:p>
          <a:p>
            <a:pPr algn="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雲朵形圖說文字 97"/>
          <p:cNvSpPr/>
          <p:nvPr/>
        </p:nvSpPr>
        <p:spPr>
          <a:xfrm>
            <a:off x="2088776" y="2829844"/>
            <a:ext cx="2070096" cy="1933459"/>
          </a:xfrm>
          <a:prstGeom prst="cloudCallout">
            <a:avLst>
              <a:gd name="adj1" fmla="val 51562"/>
              <a:gd name="adj2" fmla="val -4825"/>
            </a:avLst>
          </a:prstGeom>
          <a:noFill/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匯聚</a:t>
            </a:r>
          </a:p>
        </p:txBody>
      </p:sp>
      <p:sp>
        <p:nvSpPr>
          <p:cNvPr id="86" name="圓角矩形圖說文字 85"/>
          <p:cNvSpPr/>
          <p:nvPr/>
        </p:nvSpPr>
        <p:spPr>
          <a:xfrm>
            <a:off x="7276469" y="4968684"/>
            <a:ext cx="1212574" cy="612648"/>
          </a:xfrm>
          <a:prstGeom prst="wedgeRoundRectCallout">
            <a:avLst>
              <a:gd name="adj1" fmla="val -70939"/>
              <a:gd name="adj2" fmla="val -109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複製一份流量送出</a:t>
            </a:r>
          </a:p>
        </p:txBody>
      </p:sp>
      <p:cxnSp>
        <p:nvCxnSpPr>
          <p:cNvPr id="141" name="肘形接點 140"/>
          <p:cNvCxnSpPr>
            <a:cxnSpLocks/>
            <a:endCxn id="82" idx="1"/>
          </p:cNvCxnSpPr>
          <p:nvPr/>
        </p:nvCxnSpPr>
        <p:spPr>
          <a:xfrm>
            <a:off x="4505746" y="3717787"/>
            <a:ext cx="1855095" cy="1557221"/>
          </a:xfrm>
          <a:prstGeom prst="bentConnector3">
            <a:avLst>
              <a:gd name="adj1" fmla="val 1653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339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29028" y="1668049"/>
            <a:ext cx="9235559" cy="37555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&lt;chain&gt;</a:t>
            </a:r>
          </a:p>
          <a:p>
            <a:pPr marL="0" indent="0">
              <a:buNone/>
            </a:pPr>
            <a:r>
              <a:rPr lang="en-US" altLang="zh-TW" dirty="0"/>
              <a:t>    &lt;in&gt;P0,P1&lt;/in&gt;</a:t>
            </a:r>
          </a:p>
          <a:p>
            <a:pPr marL="0" indent="0">
              <a:buNone/>
            </a:pPr>
            <a:r>
              <a:rPr lang="en-US" altLang="zh-TW" dirty="0"/>
              <a:t>    &lt;out type="</a:t>
            </a:r>
            <a:r>
              <a:rPr lang="en-US" altLang="zh-TW" dirty="0" err="1"/>
              <a:t>loadBalance</a:t>
            </a:r>
            <a:r>
              <a:rPr lang="en-US" altLang="zh-TW" dirty="0"/>
              <a:t>“ </a:t>
            </a:r>
            <a:r>
              <a:rPr lang="en-US" altLang="zh-TW" dirty="0" err="1"/>
              <a:t>lbtype</a:t>
            </a:r>
            <a:r>
              <a:rPr lang="en-US" altLang="zh-TW" dirty="0"/>
              <a:t>=“5thash”&gt;P4,P5,P6&lt;/out&gt;</a:t>
            </a:r>
          </a:p>
          <a:p>
            <a:pPr marL="0" indent="0">
              <a:buNone/>
            </a:pPr>
            <a:r>
              <a:rPr lang="en-US" altLang="zh-TW" dirty="0"/>
              <a:t>    &lt;next type="match"&gt;</a:t>
            </a:r>
          </a:p>
          <a:p>
            <a:pPr marL="0" indent="0">
              <a:buNone/>
            </a:pPr>
            <a:r>
              <a:rPr lang="en-US" altLang="zh-TW" dirty="0"/>
              <a:t>        &lt;out&gt;P7&lt;/out&gt;</a:t>
            </a:r>
          </a:p>
          <a:p>
            <a:pPr marL="0" indent="0">
              <a:buNone/>
            </a:pPr>
            <a:r>
              <a:rPr lang="en-US" altLang="zh-TW" dirty="0"/>
              <a:t>    &lt;/next&gt;</a:t>
            </a:r>
          </a:p>
          <a:p>
            <a:pPr marL="0" indent="0">
              <a:buNone/>
            </a:pPr>
            <a:r>
              <a:rPr lang="en-US" altLang="zh-TW" dirty="0"/>
              <a:t>&lt;/chain&gt;</a:t>
            </a:r>
            <a:endParaRPr lang="zh-TW" altLang="en-US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2993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:inline</a:t>
            </a:r>
            <a:r>
              <a:rPr lang="zh-TW" altLang="en-US" dirty="0"/>
              <a:t>阻擋來源</a:t>
            </a:r>
            <a:r>
              <a:rPr lang="en-US" altLang="zh-TW" dirty="0"/>
              <a:t>IP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1893454" y="364885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023152" y="3659686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>
            <a:off x="2516351" y="3891740"/>
            <a:ext cx="506801" cy="108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4269931" y="3653134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525849" y="2685130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727279" y="353652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1893456" y="439112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>
            <a:off x="2516353" y="4634007"/>
            <a:ext cx="17523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4268687" y="439112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cxnSpLocks/>
            <a:stCxn id="5" idx="3"/>
            <a:endCxn id="11" idx="1"/>
          </p:cNvCxnSpPr>
          <p:nvPr/>
        </p:nvCxnSpPr>
        <p:spPr>
          <a:xfrm flipV="1">
            <a:off x="3640372" y="3896021"/>
            <a:ext cx="629559" cy="65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流程圖: 程序 93"/>
          <p:cNvSpPr/>
          <p:nvPr/>
        </p:nvSpPr>
        <p:spPr>
          <a:xfrm>
            <a:off x="4268687" y="2842653"/>
            <a:ext cx="903948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chemeClr val="tx1"/>
                </a:solidFill>
              </a:rPr>
              <a:t>(DROP)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直線圖說文字 1 17"/>
          <p:cNvSpPr/>
          <p:nvPr/>
        </p:nvSpPr>
        <p:spPr>
          <a:xfrm>
            <a:off x="1735906" y="2279741"/>
            <a:ext cx="1277470" cy="590055"/>
          </a:xfrm>
          <a:prstGeom prst="borderCallout1">
            <a:avLst>
              <a:gd name="adj1" fmla="val 111502"/>
              <a:gd name="adj2" fmla="val 36992"/>
              <a:gd name="adj3" fmla="val 224237"/>
              <a:gd name="adj4" fmla="val 9920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Black IP list</a:t>
            </a:r>
          </a:p>
        </p:txBody>
      </p:sp>
      <p:sp>
        <p:nvSpPr>
          <p:cNvPr id="28" name="流程圖: 程序 27">
            <a:extLst>
              <a:ext uri="{FF2B5EF4-FFF2-40B4-BE49-F238E27FC236}">
                <a16:creationId xmlns:a16="http://schemas.microsoft.com/office/drawing/2014/main" id="{326C3CD6-2D64-48E3-B50B-E39BB46428DC}"/>
              </a:ext>
            </a:extLst>
          </p:cNvPr>
          <p:cNvSpPr/>
          <p:nvPr/>
        </p:nvSpPr>
        <p:spPr>
          <a:xfrm>
            <a:off x="7124906" y="3657642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3F32AE16-D01C-4D80-8653-AA264A8DFE28}"/>
              </a:ext>
            </a:extLst>
          </p:cNvPr>
          <p:cNvCxnSpPr>
            <a:cxnSpLocks/>
            <a:stCxn id="28" idx="3"/>
            <a:endCxn id="34" idx="1"/>
          </p:cNvCxnSpPr>
          <p:nvPr/>
        </p:nvCxnSpPr>
        <p:spPr>
          <a:xfrm flipV="1">
            <a:off x="7747803" y="3891740"/>
            <a:ext cx="1407065" cy="87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流程圖: 程序 33">
            <a:extLst>
              <a:ext uri="{FF2B5EF4-FFF2-40B4-BE49-F238E27FC236}">
                <a16:creationId xmlns:a16="http://schemas.microsoft.com/office/drawing/2014/main" id="{23DE984B-73A2-4C13-9903-4DD3ED3D2D26}"/>
              </a:ext>
            </a:extLst>
          </p:cNvPr>
          <p:cNvSpPr/>
          <p:nvPr/>
        </p:nvSpPr>
        <p:spPr>
          <a:xfrm>
            <a:off x="9154868" y="3648853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流程圖: 程序 38">
            <a:extLst>
              <a:ext uri="{FF2B5EF4-FFF2-40B4-BE49-F238E27FC236}">
                <a16:creationId xmlns:a16="http://schemas.microsoft.com/office/drawing/2014/main" id="{79DBCE37-683A-4C7C-86B1-C09FC548F957}"/>
              </a:ext>
            </a:extLst>
          </p:cNvPr>
          <p:cNvSpPr/>
          <p:nvPr/>
        </p:nvSpPr>
        <p:spPr>
          <a:xfrm>
            <a:off x="7124906" y="439112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3331AC8B-E35C-4013-8A38-EE052F9D7E1D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 flipV="1">
            <a:off x="7747803" y="4625218"/>
            <a:ext cx="1396610" cy="87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流程圖: 程序 40">
            <a:extLst>
              <a:ext uri="{FF2B5EF4-FFF2-40B4-BE49-F238E27FC236}">
                <a16:creationId xmlns:a16="http://schemas.microsoft.com/office/drawing/2014/main" id="{2E4021D7-8163-48BF-B588-592EDF69D3DF}"/>
              </a:ext>
            </a:extLst>
          </p:cNvPr>
          <p:cNvSpPr/>
          <p:nvPr/>
        </p:nvSpPr>
        <p:spPr>
          <a:xfrm>
            <a:off x="9144413" y="4382331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210434C0-E7B9-4154-A8E9-8DCBC2834378}"/>
              </a:ext>
            </a:extLst>
          </p:cNvPr>
          <p:cNvCxnSpPr>
            <a:cxnSpLocks/>
            <a:stCxn id="5" idx="0"/>
            <a:endCxn id="94" idx="1"/>
          </p:cNvCxnSpPr>
          <p:nvPr/>
        </p:nvCxnSpPr>
        <p:spPr>
          <a:xfrm rot="5400000" flipH="1" flipV="1">
            <a:off x="3513151" y="2904151"/>
            <a:ext cx="574146" cy="93692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95048F66-9B0F-4B76-AECA-1865E830AC72}"/>
              </a:ext>
            </a:extLst>
          </p:cNvPr>
          <p:cNvSpPr txBox="1"/>
          <p:nvPr/>
        </p:nvSpPr>
        <p:spPr>
          <a:xfrm>
            <a:off x="8124427" y="3001964"/>
            <a:ext cx="778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inline</a:t>
            </a:r>
            <a:endParaRPr lang="zh-TW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FA51BAB-609A-4FF4-9AA0-48924492C4A3}"/>
              </a:ext>
            </a:extLst>
          </p:cNvPr>
          <p:cNvSpPr/>
          <p:nvPr/>
        </p:nvSpPr>
        <p:spPr>
          <a:xfrm>
            <a:off x="6741458" y="2685130"/>
            <a:ext cx="3558988" cy="270265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268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176512" y="17524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&lt;in&gt;P6&lt;/in&gt;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&lt;in&gt;P7&lt;/in&gt;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&lt;out&gt;P6&lt;/out&gt;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6" name="直線圖說文字 1 5"/>
          <p:cNvSpPr/>
          <p:nvPr/>
        </p:nvSpPr>
        <p:spPr>
          <a:xfrm>
            <a:off x="4619135" y="785156"/>
            <a:ext cx="6925493" cy="3928887"/>
          </a:xfrm>
          <a:prstGeom prst="borderCallout1">
            <a:avLst>
              <a:gd name="adj1" fmla="val 37403"/>
              <a:gd name="adj2" fmla="val -3292"/>
              <a:gd name="adj3" fmla="val 47586"/>
              <a:gd name="adj4" fmla="val -2450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 &lt;filter id="1" name=“Black IP list" </a:t>
            </a:r>
            <a:r>
              <a:rPr lang="en-US" altLang="zh-TW" dirty="0" err="1"/>
              <a:t>sessionBase</a:t>
            </a:r>
            <a:r>
              <a:rPr lang="en-US" altLang="zh-TW" dirty="0"/>
              <a:t>="no"&gt;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content="110.250.158.62"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content="113.128.212.234"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content="113.161.194.221"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千萬筆</a:t>
            </a:r>
            <a:endParaRPr lang="en-US" altLang="zh-TW" dirty="0"/>
          </a:p>
          <a:p>
            <a:r>
              <a:rPr lang="en-US" altLang="zh-TW" dirty="0"/>
              <a:t>&lt;/filter&gt;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2926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:inline</a:t>
            </a:r>
            <a:r>
              <a:rPr lang="zh-TW" altLang="en-US" dirty="0"/>
              <a:t>阻擋</a:t>
            </a:r>
            <a:r>
              <a:rPr lang="en-US" altLang="zh-TW" dirty="0"/>
              <a:t>HTTP </a:t>
            </a:r>
            <a:r>
              <a:rPr lang="en-US" altLang="zh-TW" dirty="0" err="1"/>
              <a:t>url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3167051" y="346341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337390" y="3454512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F0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3789948" y="3697400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6311958" y="4244593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5" idx="2"/>
            <a:endCxn id="11" idx="1"/>
          </p:cNvCxnSpPr>
          <p:nvPr/>
        </p:nvCxnSpPr>
        <p:spPr>
          <a:xfrm rot="16200000" flipH="1">
            <a:off x="5205383" y="3380904"/>
            <a:ext cx="547193" cy="166595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922036" y="3336973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55948" y="391682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3167051" y="4887474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 flipV="1">
            <a:off x="3789948" y="5125556"/>
            <a:ext cx="2522010" cy="48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6311958" y="488266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4" name="流程圖: 程序 93"/>
          <p:cNvSpPr/>
          <p:nvPr/>
        </p:nvSpPr>
        <p:spPr>
          <a:xfrm>
            <a:off x="6311958" y="3462443"/>
            <a:ext cx="93587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chemeClr val="tx1"/>
                </a:solidFill>
              </a:rPr>
              <a:t>(DROP)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線單箭頭接點 21"/>
          <p:cNvCxnSpPr>
            <a:cxnSpLocks/>
            <a:stCxn id="5" idx="3"/>
            <a:endCxn id="94" idx="1"/>
          </p:cNvCxnSpPr>
          <p:nvPr/>
        </p:nvCxnSpPr>
        <p:spPr>
          <a:xfrm>
            <a:off x="4954610" y="3697400"/>
            <a:ext cx="1357348" cy="7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直線圖說文字 1 44"/>
          <p:cNvSpPr/>
          <p:nvPr/>
        </p:nvSpPr>
        <p:spPr>
          <a:xfrm>
            <a:off x="3039382" y="2100289"/>
            <a:ext cx="1882654" cy="590055"/>
          </a:xfrm>
          <a:prstGeom prst="borderCallout1">
            <a:avLst>
              <a:gd name="adj1" fmla="val 111502"/>
              <a:gd name="adj2" fmla="val 55109"/>
              <a:gd name="adj3" fmla="val 218144"/>
              <a:gd name="adj4" fmla="val 8080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HTTP </a:t>
            </a:r>
            <a:r>
              <a:rPr lang="en-US" altLang="zh-TW" dirty="0" err="1"/>
              <a:t>url</a:t>
            </a:r>
            <a:r>
              <a:rPr lang="en-US" altLang="zh-TW" dirty="0"/>
              <a:t> black list</a:t>
            </a:r>
          </a:p>
        </p:txBody>
      </p:sp>
    </p:spTree>
    <p:extLst>
      <p:ext uri="{BB962C8B-B14F-4D97-AF65-F5344CB8AC3E}">
        <p14:creationId xmlns:p14="http://schemas.microsoft.com/office/powerpoint/2010/main" val="275964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29028" y="1668048"/>
            <a:ext cx="10660947" cy="4777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&lt;in&gt;P6&lt;/in&gt;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&lt;in&gt;P7&lt;/in&gt;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&lt;out&gt;P6&lt;/out&gt;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en-US" altLang="zh-TW" sz="2000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8" name="直線圖說文字 1 7"/>
          <p:cNvSpPr/>
          <p:nvPr/>
        </p:nvSpPr>
        <p:spPr>
          <a:xfrm>
            <a:off x="4391097" y="1995484"/>
            <a:ext cx="6258973" cy="2659642"/>
          </a:xfrm>
          <a:prstGeom prst="borderCallout1">
            <a:avLst>
              <a:gd name="adj1" fmla="val 37403"/>
              <a:gd name="adj2" fmla="val -3292"/>
              <a:gd name="adj3" fmla="val 24188"/>
              <a:gd name="adj4" fmla="val -2366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 &lt;filter id=“1" </a:t>
            </a:r>
            <a:r>
              <a:rPr lang="en-US" altLang="zh-TW" dirty="0" err="1"/>
              <a:t>sessionBase</a:t>
            </a:r>
            <a:r>
              <a:rPr lang="en-US" altLang="zh-TW" dirty="0"/>
              <a:t>="no"&gt;</a:t>
            </a:r>
          </a:p>
          <a:p>
            <a:r>
              <a:rPr lang="en-US" altLang="zh-TW" dirty="0"/>
              <a:t>     &lt;or&gt;</a:t>
            </a:r>
          </a:p>
          <a:p>
            <a:r>
              <a:rPr lang="en-US" altLang="zh-TW" dirty="0"/>
              <a:t>         &lt;find name="</a:t>
            </a:r>
            <a:r>
              <a:rPr lang="en-US" altLang="zh-TW" b="0" i="0" dirty="0">
                <a:solidFill>
                  <a:srgbClr val="34495E"/>
                </a:solidFill>
                <a:effectLst/>
                <a:latin typeface="Source Sans Pro" panose="020B0604020202020204" pitchFamily="34" charset="0"/>
              </a:rPr>
              <a:t> http.request.url</a:t>
            </a:r>
            <a:r>
              <a:rPr lang="en-US" altLang="zh-TW" dirty="0"/>
              <a:t>" relation="==" content="</a:t>
            </a:r>
            <a:r>
              <a:rPr lang="en-US" altLang="zh-TW" b="0" i="0" dirty="0">
                <a:solidFill>
                  <a:srgbClr val="42B983"/>
                </a:solidFill>
                <a:effectLst/>
                <a:latin typeface="Roboto Mono"/>
              </a:rPr>
              <a:t> www.whitehollowtransport.com/current-elliott-c-89.html </a:t>
            </a:r>
            <a:r>
              <a:rPr lang="en-US" altLang="zh-TW" dirty="0"/>
              <a:t>" /&gt;</a:t>
            </a:r>
          </a:p>
          <a:p>
            <a:r>
              <a:rPr lang="en-US" altLang="zh-TW" dirty="0"/>
              <a:t>         &lt;find name="</a:t>
            </a:r>
            <a:r>
              <a:rPr lang="en-US" altLang="zh-TW" b="0" i="0" dirty="0">
                <a:solidFill>
                  <a:srgbClr val="34495E"/>
                </a:solidFill>
                <a:effectLst/>
                <a:latin typeface="Source Sans Pro" panose="020B0604020202020204" pitchFamily="34" charset="0"/>
              </a:rPr>
              <a:t> http.request.url</a:t>
            </a:r>
            <a:r>
              <a:rPr lang="en-US" altLang="zh-TW" dirty="0"/>
              <a:t>" relation="==" content="</a:t>
            </a:r>
            <a:r>
              <a:rPr lang="en-US" altLang="zh-TW" b="0" i="0" dirty="0">
                <a:solidFill>
                  <a:srgbClr val="42B983"/>
                </a:solidFill>
                <a:effectLst/>
                <a:latin typeface="Roboto Mono"/>
              </a:rPr>
              <a:t> www.cctv.com/index.html </a:t>
            </a:r>
            <a:r>
              <a:rPr lang="en-US" altLang="zh-TW" dirty="0"/>
              <a:t>" /&gt;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…</a:t>
            </a:r>
            <a:r>
              <a:rPr lang="zh-TW" altLang="en-US" dirty="0"/>
              <a:t> 百萬筆</a:t>
            </a:r>
            <a:endParaRPr lang="en-US" altLang="zh-TW" dirty="0"/>
          </a:p>
          <a:p>
            <a:r>
              <a:rPr lang="en-US" altLang="zh-TW" dirty="0"/>
              <a:t>&lt;/filter&gt;</a:t>
            </a:r>
          </a:p>
        </p:txBody>
      </p:sp>
    </p:spTree>
    <p:extLst>
      <p:ext uri="{BB962C8B-B14F-4D97-AF65-F5344CB8AC3E}">
        <p14:creationId xmlns:p14="http://schemas.microsoft.com/office/powerpoint/2010/main" val="4235147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 </a:t>
            </a:r>
            <a:r>
              <a:rPr lang="en-US" altLang="zh-TW" dirty="0" err="1"/>
              <a:t>inlne</a:t>
            </a:r>
            <a:r>
              <a:rPr lang="zh-TW" altLang="en-US" dirty="0"/>
              <a:t>阻擋</a:t>
            </a:r>
            <a:r>
              <a:rPr lang="en-US" altLang="zh-TW" dirty="0"/>
              <a:t>IP/</a:t>
            </a:r>
            <a:r>
              <a:rPr lang="en-US" altLang="zh-TW" dirty="0" err="1"/>
              <a:t>dns</a:t>
            </a:r>
            <a:r>
              <a:rPr lang="en-US" altLang="zh-TW" dirty="0"/>
              <a:t> domain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2363888" y="284024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775876" y="2839291"/>
            <a:ext cx="1520988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F1: IP</a:t>
            </a:r>
            <a:r>
              <a:rPr lang="zh-TW" altLang="en-US" dirty="0"/>
              <a:t>黑名單</a:t>
            </a:r>
          </a:p>
        </p:txBody>
      </p:sp>
      <p:cxnSp>
        <p:nvCxnSpPr>
          <p:cNvPr id="6" name="直線單箭頭接點 5"/>
          <p:cNvCxnSpPr>
            <a:cxnSpLocks/>
            <a:stCxn id="4" idx="3"/>
            <a:endCxn id="5" idx="1"/>
          </p:cNvCxnSpPr>
          <p:nvPr/>
        </p:nvCxnSpPr>
        <p:spPr>
          <a:xfrm flipV="1">
            <a:off x="2986785" y="3082179"/>
            <a:ext cx="789091" cy="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6621706" y="4448164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cxnSpLocks/>
            <a:stCxn id="18" idx="2"/>
            <a:endCxn id="11" idx="1"/>
          </p:cNvCxnSpPr>
          <p:nvPr/>
        </p:nvCxnSpPr>
        <p:spPr>
          <a:xfrm rot="16200000" flipH="1">
            <a:off x="5369323" y="3438667"/>
            <a:ext cx="411303" cy="209346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5728383" y="2714990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102215" y="338772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63887" y="507945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 flipV="1">
            <a:off x="2986784" y="5315666"/>
            <a:ext cx="3634922" cy="66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6621706" y="507277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cxnSpLocks/>
            <a:stCxn id="5" idx="3"/>
            <a:endCxn id="21" idx="1"/>
          </p:cNvCxnSpPr>
          <p:nvPr/>
        </p:nvCxnSpPr>
        <p:spPr>
          <a:xfrm flipV="1">
            <a:off x="5296864" y="3082178"/>
            <a:ext cx="132484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圓角矩形 17"/>
          <p:cNvSpPr/>
          <p:nvPr/>
        </p:nvSpPr>
        <p:spPr>
          <a:xfrm>
            <a:off x="3534227" y="3793973"/>
            <a:ext cx="1988032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F2:</a:t>
            </a:r>
            <a:r>
              <a:rPr lang="zh-TW" altLang="en-US" dirty="0"/>
              <a:t> </a:t>
            </a:r>
            <a:r>
              <a:rPr lang="en-US" altLang="zh-TW" dirty="0"/>
              <a:t>domain</a:t>
            </a:r>
            <a:r>
              <a:rPr lang="zh-TW" altLang="en-US" dirty="0"/>
              <a:t>黑名單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5948287" y="3663372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21" name="流程圖: 程序 20"/>
          <p:cNvSpPr/>
          <p:nvPr/>
        </p:nvSpPr>
        <p:spPr>
          <a:xfrm>
            <a:off x="6621706" y="2807601"/>
            <a:ext cx="741740" cy="54915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(DROP)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24" name="直線單箭頭接點 23"/>
          <p:cNvCxnSpPr>
            <a:cxnSpLocks/>
            <a:stCxn id="5" idx="2"/>
            <a:endCxn id="18" idx="0"/>
          </p:cNvCxnSpPr>
          <p:nvPr/>
        </p:nvCxnSpPr>
        <p:spPr>
          <a:xfrm flipH="1">
            <a:off x="4528243" y="3325066"/>
            <a:ext cx="8127" cy="468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4099921" y="432171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cxnSp>
        <p:nvCxnSpPr>
          <p:cNvPr id="34" name="肘形接點 33"/>
          <p:cNvCxnSpPr>
            <a:cxnSpLocks/>
            <a:stCxn id="18" idx="3"/>
            <a:endCxn id="21" idx="2"/>
          </p:cNvCxnSpPr>
          <p:nvPr/>
        </p:nvCxnSpPr>
        <p:spPr>
          <a:xfrm flipV="1">
            <a:off x="5522259" y="3356755"/>
            <a:ext cx="1470317" cy="68010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62000FF4-7E7C-4508-8F8B-9E0B5907997F}"/>
              </a:ext>
            </a:extLst>
          </p:cNvPr>
          <p:cNvCxnSpPr>
            <a:cxnSpLocks/>
            <a:stCxn id="21" idx="3"/>
            <a:endCxn id="52" idx="1"/>
          </p:cNvCxnSpPr>
          <p:nvPr/>
        </p:nvCxnSpPr>
        <p:spPr>
          <a:xfrm>
            <a:off x="7363446" y="3082178"/>
            <a:ext cx="1246292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09272D54-2941-451C-9BF0-76AF9F2C7DEA}"/>
              </a:ext>
            </a:extLst>
          </p:cNvPr>
          <p:cNvSpPr/>
          <p:nvPr/>
        </p:nvSpPr>
        <p:spPr>
          <a:xfrm>
            <a:off x="8609738" y="2654297"/>
            <a:ext cx="1284747" cy="85576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Syslog Server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7545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762698" y="287250"/>
            <a:ext cx="10867050" cy="63532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&lt;in&gt;P6&lt;/in&gt;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&lt;fid&gt;F2&lt;/fid&gt;</a:t>
            </a:r>
          </a:p>
          <a:p>
            <a:pPr marL="0" indent="0">
              <a:buNone/>
            </a:pPr>
            <a:r>
              <a:rPr lang="en-US" altLang="zh-TW" sz="2000" dirty="0"/>
              <a:t>    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    &lt;/next&gt;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&lt;in&gt;P7&lt;/in&gt;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&lt;out&gt;P6&lt;/out&gt;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6" name="直線圖說文字 1 5"/>
          <p:cNvSpPr/>
          <p:nvPr/>
        </p:nvSpPr>
        <p:spPr>
          <a:xfrm>
            <a:off x="4361683" y="456681"/>
            <a:ext cx="7016489" cy="2524385"/>
          </a:xfrm>
          <a:prstGeom prst="borderCallout1">
            <a:avLst>
              <a:gd name="adj1" fmla="val 35996"/>
              <a:gd name="adj2" fmla="val -1268"/>
              <a:gd name="adj3" fmla="val 31409"/>
              <a:gd name="adj4" fmla="val -26019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id="1" name="</a:t>
            </a:r>
            <a:r>
              <a:rPr lang="en-US" altLang="zh-TW" dirty="0" err="1"/>
              <a:t>ip</a:t>
            </a:r>
            <a:r>
              <a:rPr lang="en-US" altLang="zh-TW" dirty="0"/>
              <a:t>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content="110.250.158.62"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content="113.128.212.234"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content="113.161.194.221" /&gt;</a:t>
            </a:r>
          </a:p>
          <a:p>
            <a:r>
              <a:rPr lang="en-US" altLang="zh-TW" dirty="0"/>
              <a:t>          …</a:t>
            </a:r>
            <a:endParaRPr lang="zh-TW" altLang="en-US" dirty="0"/>
          </a:p>
        </p:txBody>
      </p:sp>
      <p:sp>
        <p:nvSpPr>
          <p:cNvPr id="8" name="直線圖說文字 1 7"/>
          <p:cNvSpPr/>
          <p:nvPr/>
        </p:nvSpPr>
        <p:spPr>
          <a:xfrm>
            <a:off x="4361683" y="3378914"/>
            <a:ext cx="7268065" cy="2524385"/>
          </a:xfrm>
          <a:prstGeom prst="borderCallout1">
            <a:avLst>
              <a:gd name="adj1" fmla="val -3391"/>
              <a:gd name="adj2" fmla="val 3034"/>
              <a:gd name="adj3" fmla="val -37520"/>
              <a:gd name="adj4" fmla="val -218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id=“2" name=“domain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name=“dns.qry.name" relation="==" content=“google.com" /&gt;</a:t>
            </a:r>
          </a:p>
          <a:p>
            <a:r>
              <a:rPr lang="en-US" altLang="zh-TW" dirty="0"/>
              <a:t>          &lt;find name="dns.qry.name" relation="==" content=“facebook.com" /&gt;</a:t>
            </a:r>
          </a:p>
          <a:p>
            <a:r>
              <a:rPr lang="en-US" altLang="zh-TW" dirty="0"/>
              <a:t>          &lt;find name= dns.qry.name" relation="==" content=“twitter.com" /&gt;</a:t>
            </a:r>
          </a:p>
          <a:p>
            <a:r>
              <a:rPr lang="en-US" altLang="zh-TW" dirty="0"/>
              <a:t>          …</a:t>
            </a:r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6E6FF2-A988-4DFB-9FFF-8FD0EE05BFD8}"/>
              </a:ext>
            </a:extLst>
          </p:cNvPr>
          <p:cNvSpPr/>
          <p:nvPr/>
        </p:nvSpPr>
        <p:spPr>
          <a:xfrm>
            <a:off x="7072351" y="753035"/>
            <a:ext cx="2008094" cy="573741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DE975B-82B3-4470-AB16-CEDF771D4F28}"/>
              </a:ext>
            </a:extLst>
          </p:cNvPr>
          <p:cNvSpPr/>
          <p:nvPr/>
        </p:nvSpPr>
        <p:spPr>
          <a:xfrm>
            <a:off x="7601268" y="3675529"/>
            <a:ext cx="2008094" cy="573741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4706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762698" y="287250"/>
            <a:ext cx="10867050" cy="63532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&lt;in&gt;P6&lt;/in&gt;</a:t>
            </a:r>
          </a:p>
          <a:p>
            <a:pPr marL="0" indent="0">
              <a:buNone/>
            </a:pPr>
            <a:r>
              <a:rPr lang="en-US" altLang="zh-TW" sz="2000" dirty="0"/>
              <a:t>    &lt;fid</a:t>
            </a:r>
            <a:r>
              <a:rPr lang="zh-TW" altLang="en-US" sz="2000" dirty="0"/>
              <a:t> </a:t>
            </a:r>
            <a:r>
              <a:rPr lang="en-US" altLang="zh-TW" sz="2000" dirty="0"/>
              <a:t>type=“or”&gt;F1,F2&lt;/fid&gt;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&lt;in&gt;P7&lt;/in&gt;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&lt;out&gt;P6&lt;/out&gt;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6" name="直線圖說文字 1 5"/>
          <p:cNvSpPr/>
          <p:nvPr/>
        </p:nvSpPr>
        <p:spPr>
          <a:xfrm>
            <a:off x="4235894" y="904615"/>
            <a:ext cx="7016489" cy="2524385"/>
          </a:xfrm>
          <a:prstGeom prst="borderCallout1">
            <a:avLst>
              <a:gd name="adj1" fmla="val 35996"/>
              <a:gd name="adj2" fmla="val -1268"/>
              <a:gd name="adj3" fmla="val 20400"/>
              <a:gd name="adj4" fmla="val -2001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id="1" name="</a:t>
            </a:r>
            <a:r>
              <a:rPr lang="en-US" altLang="zh-TW" dirty="0" err="1"/>
              <a:t>ip</a:t>
            </a:r>
            <a:r>
              <a:rPr lang="en-US" altLang="zh-TW" dirty="0"/>
              <a:t>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content="110.250.158.62"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content="113.128.212.234"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content="113.161.194.221" /&gt;</a:t>
            </a:r>
          </a:p>
          <a:p>
            <a:r>
              <a:rPr lang="en-US" altLang="zh-TW" dirty="0"/>
              <a:t>          …</a:t>
            </a:r>
            <a:endParaRPr lang="zh-TW" altLang="en-US" dirty="0"/>
          </a:p>
        </p:txBody>
      </p:sp>
      <p:sp>
        <p:nvSpPr>
          <p:cNvPr id="8" name="直線圖說文字 1 7"/>
          <p:cNvSpPr/>
          <p:nvPr/>
        </p:nvSpPr>
        <p:spPr>
          <a:xfrm>
            <a:off x="4235894" y="3681065"/>
            <a:ext cx="7268065" cy="2524385"/>
          </a:xfrm>
          <a:prstGeom prst="borderCallout1">
            <a:avLst>
              <a:gd name="adj1" fmla="val -3391"/>
              <a:gd name="adj2" fmla="val 3034"/>
              <a:gd name="adj3" fmla="val -88658"/>
              <a:gd name="adj4" fmla="val -1530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id=“2" name=“domain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name=“dns.qry.name" relation="==" content=“google.com" /&gt;</a:t>
            </a:r>
          </a:p>
          <a:p>
            <a:r>
              <a:rPr lang="en-US" altLang="zh-TW" dirty="0"/>
              <a:t>          &lt;find name="dns.qry.name" relation="==" content=“facebook.com" /&gt;</a:t>
            </a:r>
          </a:p>
          <a:p>
            <a:r>
              <a:rPr lang="en-US" altLang="zh-TW" dirty="0"/>
              <a:t>          &lt;find name= dns.qry.name" relation="==" content=“twitter.com" /&gt;</a:t>
            </a:r>
          </a:p>
          <a:p>
            <a:r>
              <a:rPr lang="en-US" altLang="zh-TW" dirty="0"/>
              <a:t>          …</a:t>
            </a:r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6E6FF2-A988-4DFB-9FFF-8FD0EE05BFD8}"/>
              </a:ext>
            </a:extLst>
          </p:cNvPr>
          <p:cNvSpPr/>
          <p:nvPr/>
        </p:nvSpPr>
        <p:spPr>
          <a:xfrm>
            <a:off x="6946845" y="1228164"/>
            <a:ext cx="2008094" cy="573741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DE975B-82B3-4470-AB16-CEDF771D4F28}"/>
              </a:ext>
            </a:extLst>
          </p:cNvPr>
          <p:cNvSpPr/>
          <p:nvPr/>
        </p:nvSpPr>
        <p:spPr>
          <a:xfrm>
            <a:off x="7448868" y="4019470"/>
            <a:ext cx="2008094" cy="573741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617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29266"/>
            <a:ext cx="10515600" cy="1325563"/>
          </a:xfrm>
        </p:spPr>
        <p:txBody>
          <a:bodyPr/>
          <a:lstStyle/>
          <a:p>
            <a:r>
              <a:rPr lang="zh-TW" altLang="en-US" dirty="0"/>
              <a:t>設定阻擋</a:t>
            </a:r>
            <a:r>
              <a:rPr lang="en-US" altLang="zh-TW" dirty="0"/>
              <a:t>IP/</a:t>
            </a:r>
            <a:r>
              <a:rPr lang="en-US" altLang="zh-TW" dirty="0" err="1"/>
              <a:t>domin</a:t>
            </a:r>
            <a:r>
              <a:rPr lang="zh-TW" altLang="en-US" dirty="0"/>
              <a:t>黑名單送出</a:t>
            </a:r>
            <a:r>
              <a:rPr lang="en-US" altLang="zh-TW" dirty="0"/>
              <a:t>syslog</a:t>
            </a:r>
            <a:endParaRPr lang="zh-TW" altLang="en-US" dirty="0"/>
          </a:p>
        </p:txBody>
      </p:sp>
      <p:pic>
        <p:nvPicPr>
          <p:cNvPr id="7" name="內容版面配置區 6" descr="一張含有 文字, 螢幕擷取畫面, 室內 的圖片&#10;&#10;自動產生的描述">
            <a:extLst>
              <a:ext uri="{FF2B5EF4-FFF2-40B4-BE49-F238E27FC236}">
                <a16:creationId xmlns:a16="http://schemas.microsoft.com/office/drawing/2014/main" id="{473FB576-5E91-41E7-B9AF-6961BD2EF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643" y="1825625"/>
            <a:ext cx="9334714" cy="4351338"/>
          </a:xfrm>
        </p:spPr>
      </p:pic>
    </p:spTree>
    <p:extLst>
      <p:ext uri="{BB962C8B-B14F-4D97-AF65-F5344CB8AC3E}">
        <p14:creationId xmlns:p14="http://schemas.microsoft.com/office/powerpoint/2010/main" val="1327146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05713-1B9A-4F49-AA38-2A0C6779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2658382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/>
              <a:t>進階案例探討</a:t>
            </a:r>
          </a:p>
        </p:txBody>
      </p:sp>
    </p:spTree>
    <p:extLst>
      <p:ext uri="{BB962C8B-B14F-4D97-AF65-F5344CB8AC3E}">
        <p14:creationId xmlns:p14="http://schemas.microsoft.com/office/powerpoint/2010/main" val="2336819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CD38380D-BBA3-478D-8BD4-59B3DF52DF79}"/>
              </a:ext>
            </a:extLst>
          </p:cNvPr>
          <p:cNvCxnSpPr>
            <a:cxnSpLocks/>
          </p:cNvCxnSpPr>
          <p:nvPr/>
        </p:nvCxnSpPr>
        <p:spPr>
          <a:xfrm flipV="1">
            <a:off x="1440166" y="2796185"/>
            <a:ext cx="1708452" cy="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IPS/NGFW</a:t>
            </a:r>
            <a:r>
              <a:rPr lang="zh-TW" altLang="en-US" dirty="0"/>
              <a:t>的使用情境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F5C0FF10-6572-4710-BA86-B7436A0DEE6A}"/>
              </a:ext>
            </a:extLst>
          </p:cNvPr>
          <p:cNvCxnSpPr>
            <a:cxnSpLocks/>
          </p:cNvCxnSpPr>
          <p:nvPr/>
        </p:nvCxnSpPr>
        <p:spPr>
          <a:xfrm>
            <a:off x="2650220" y="2919639"/>
            <a:ext cx="4305300" cy="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719C27E-9F8E-4CF7-836F-67B570DDFD1E}"/>
              </a:ext>
            </a:extLst>
          </p:cNvPr>
          <p:cNvSpPr txBox="1"/>
          <p:nvPr/>
        </p:nvSpPr>
        <p:spPr>
          <a:xfrm>
            <a:off x="3916666" y="2883127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100G</a:t>
            </a:r>
            <a:endParaRPr lang="zh-TW" altLang="en-US" sz="16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6D500C94-9B56-4792-A613-E78B8C0D5FB9}"/>
              </a:ext>
            </a:extLst>
          </p:cNvPr>
          <p:cNvSpPr txBox="1"/>
          <p:nvPr/>
        </p:nvSpPr>
        <p:spPr>
          <a:xfrm>
            <a:off x="5983591" y="2873602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100G</a:t>
            </a:r>
            <a:endParaRPr lang="zh-TW" altLang="en-US" sz="1600" dirty="0"/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85E0FC30-BA1E-4951-BFDB-EDC6D695FEE0}"/>
              </a:ext>
            </a:extLst>
          </p:cNvPr>
          <p:cNvCxnSpPr>
            <a:cxnSpLocks/>
          </p:cNvCxnSpPr>
          <p:nvPr/>
        </p:nvCxnSpPr>
        <p:spPr>
          <a:xfrm flipV="1">
            <a:off x="1440166" y="2948585"/>
            <a:ext cx="1708452" cy="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A04D488C-943E-4BDA-A972-7E80422899C5}"/>
              </a:ext>
            </a:extLst>
          </p:cNvPr>
          <p:cNvCxnSpPr>
            <a:cxnSpLocks/>
          </p:cNvCxnSpPr>
          <p:nvPr/>
        </p:nvCxnSpPr>
        <p:spPr>
          <a:xfrm flipV="1">
            <a:off x="1430641" y="3100985"/>
            <a:ext cx="1708452" cy="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9B06ED8A-E4C7-4AB6-8629-7AF6F8D848CA}"/>
              </a:ext>
            </a:extLst>
          </p:cNvPr>
          <p:cNvCxnSpPr>
            <a:cxnSpLocks/>
          </p:cNvCxnSpPr>
          <p:nvPr/>
        </p:nvCxnSpPr>
        <p:spPr>
          <a:xfrm flipV="1">
            <a:off x="1430641" y="3243489"/>
            <a:ext cx="1695829" cy="9898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679D4FF5-A57F-4EED-B4B1-E1CD3EFC3576}"/>
              </a:ext>
            </a:extLst>
          </p:cNvPr>
          <p:cNvSpPr/>
          <p:nvPr/>
        </p:nvSpPr>
        <p:spPr>
          <a:xfrm>
            <a:off x="2523870" y="2482844"/>
            <a:ext cx="1339168" cy="10337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Router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7B3DA091-233F-4A07-80E2-01EC07C6DE0C}"/>
              </a:ext>
            </a:extLst>
          </p:cNvPr>
          <p:cNvSpPr txBox="1"/>
          <p:nvPr/>
        </p:nvSpPr>
        <p:spPr>
          <a:xfrm>
            <a:off x="2135491" y="2578327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D9B9F06E-3871-41A3-9F51-0EA60ECFF315}"/>
              </a:ext>
            </a:extLst>
          </p:cNvPr>
          <p:cNvSpPr txBox="1"/>
          <p:nvPr/>
        </p:nvSpPr>
        <p:spPr>
          <a:xfrm>
            <a:off x="2135491" y="2730727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4F2BF9E0-22F2-46E2-800A-629872DF4EEB}"/>
              </a:ext>
            </a:extLst>
          </p:cNvPr>
          <p:cNvSpPr txBox="1"/>
          <p:nvPr/>
        </p:nvSpPr>
        <p:spPr>
          <a:xfrm>
            <a:off x="2135491" y="2883127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928C3BC9-7DB4-46CF-B1E3-B4FCE76EA7A4}"/>
              </a:ext>
            </a:extLst>
          </p:cNvPr>
          <p:cNvSpPr txBox="1"/>
          <p:nvPr/>
        </p:nvSpPr>
        <p:spPr>
          <a:xfrm>
            <a:off x="2135491" y="3045052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2C16BB64-59FF-4C2F-96C9-BA025F7D168E}"/>
              </a:ext>
            </a:extLst>
          </p:cNvPr>
          <p:cNvCxnSpPr>
            <a:cxnSpLocks/>
          </p:cNvCxnSpPr>
          <p:nvPr/>
        </p:nvCxnSpPr>
        <p:spPr>
          <a:xfrm>
            <a:off x="3184525" y="5143871"/>
            <a:ext cx="2832023" cy="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B12AF312-21B1-4353-AAC1-B99938E36663}"/>
              </a:ext>
            </a:extLst>
          </p:cNvPr>
          <p:cNvCxnSpPr>
            <a:cxnSpLocks/>
          </p:cNvCxnSpPr>
          <p:nvPr/>
        </p:nvCxnSpPr>
        <p:spPr>
          <a:xfrm>
            <a:off x="3184525" y="5296271"/>
            <a:ext cx="2822498" cy="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8552C4D7-5CCE-4456-8BE2-6FAC61772E33}"/>
              </a:ext>
            </a:extLst>
          </p:cNvPr>
          <p:cNvCxnSpPr>
            <a:cxnSpLocks/>
          </p:cNvCxnSpPr>
          <p:nvPr/>
        </p:nvCxnSpPr>
        <p:spPr>
          <a:xfrm flipV="1">
            <a:off x="3184525" y="5438775"/>
            <a:ext cx="2809875" cy="533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C70B64C4-EA6A-4119-B187-830BFCE809F6}"/>
              </a:ext>
            </a:extLst>
          </p:cNvPr>
          <p:cNvSpPr txBox="1"/>
          <p:nvPr/>
        </p:nvSpPr>
        <p:spPr>
          <a:xfrm>
            <a:off x="5432046" y="477361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FCCB3AD7-8222-41A2-B06D-1A47C0D75177}"/>
              </a:ext>
            </a:extLst>
          </p:cNvPr>
          <p:cNvSpPr txBox="1"/>
          <p:nvPr/>
        </p:nvSpPr>
        <p:spPr>
          <a:xfrm>
            <a:off x="5432046" y="492601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B17EBE05-C245-410A-8EFC-067847E034CF}"/>
              </a:ext>
            </a:extLst>
          </p:cNvPr>
          <p:cNvSpPr txBox="1"/>
          <p:nvPr/>
        </p:nvSpPr>
        <p:spPr>
          <a:xfrm>
            <a:off x="5432046" y="507841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4CEEDDB4-17B4-4AAA-9C8E-81294494112C}"/>
              </a:ext>
            </a:extLst>
          </p:cNvPr>
          <p:cNvSpPr txBox="1"/>
          <p:nvPr/>
        </p:nvSpPr>
        <p:spPr>
          <a:xfrm>
            <a:off x="5432046" y="5240338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E025FA61-6967-40F9-BD05-AF64E53C5C03}"/>
              </a:ext>
            </a:extLst>
          </p:cNvPr>
          <p:cNvCxnSpPr>
            <a:cxnSpLocks/>
          </p:cNvCxnSpPr>
          <p:nvPr/>
        </p:nvCxnSpPr>
        <p:spPr>
          <a:xfrm>
            <a:off x="3184525" y="4991471"/>
            <a:ext cx="2832023" cy="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B8F66206-FE9D-43AA-977D-0A9E7742BAFC}"/>
              </a:ext>
            </a:extLst>
          </p:cNvPr>
          <p:cNvSpPr/>
          <p:nvPr/>
        </p:nvSpPr>
        <p:spPr>
          <a:xfrm>
            <a:off x="3909975" y="4802559"/>
            <a:ext cx="1402655" cy="731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IPS/NGFW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5924EF63-A078-4F35-96F1-32F22C950FA9}"/>
              </a:ext>
            </a:extLst>
          </p:cNvPr>
          <p:cNvSpPr txBox="1"/>
          <p:nvPr/>
        </p:nvSpPr>
        <p:spPr>
          <a:xfrm>
            <a:off x="3250821" y="477361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85A898BF-72B7-48A9-98C7-FDF442D07D23}"/>
              </a:ext>
            </a:extLst>
          </p:cNvPr>
          <p:cNvSpPr txBox="1"/>
          <p:nvPr/>
        </p:nvSpPr>
        <p:spPr>
          <a:xfrm>
            <a:off x="3250821" y="492601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DFE845BF-F2F5-4CAA-B497-7169571C14B0}"/>
              </a:ext>
            </a:extLst>
          </p:cNvPr>
          <p:cNvSpPr txBox="1"/>
          <p:nvPr/>
        </p:nvSpPr>
        <p:spPr>
          <a:xfrm>
            <a:off x="3250821" y="507841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2E15EBEE-716C-412F-997C-DD88BA70CBBF}"/>
              </a:ext>
            </a:extLst>
          </p:cNvPr>
          <p:cNvSpPr txBox="1"/>
          <p:nvPr/>
        </p:nvSpPr>
        <p:spPr>
          <a:xfrm>
            <a:off x="3250821" y="5240338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3DCC9B9-1BB2-4E77-A75B-42067C669F33}"/>
              </a:ext>
            </a:extLst>
          </p:cNvPr>
          <p:cNvSpPr/>
          <p:nvPr/>
        </p:nvSpPr>
        <p:spPr>
          <a:xfrm>
            <a:off x="4594870" y="2597748"/>
            <a:ext cx="1402655" cy="731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IPS/NGFW</a:t>
            </a:r>
          </a:p>
        </p:txBody>
      </p:sp>
      <p:sp>
        <p:nvSpPr>
          <p:cNvPr id="84" name="矩形圖說文字 69">
            <a:extLst>
              <a:ext uri="{FF2B5EF4-FFF2-40B4-BE49-F238E27FC236}">
                <a16:creationId xmlns:a16="http://schemas.microsoft.com/office/drawing/2014/main" id="{7A9C2C4B-1A9D-42C7-90ED-BE661B87DEB8}"/>
              </a:ext>
            </a:extLst>
          </p:cNvPr>
          <p:cNvSpPr/>
          <p:nvPr/>
        </p:nvSpPr>
        <p:spPr>
          <a:xfrm>
            <a:off x="7486651" y="1654627"/>
            <a:ext cx="4040869" cy="2264231"/>
          </a:xfrm>
          <a:prstGeom prst="wedgeRectCallout">
            <a:avLst>
              <a:gd name="adj1" fmla="val -56239"/>
              <a:gd name="adj2" fmla="val -2164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TW" altLang="en-US" b="1" dirty="0"/>
              <a:t>情境  </a:t>
            </a:r>
            <a:r>
              <a:rPr lang="en-US" altLang="zh-TW" b="1" dirty="0"/>
              <a:t>A</a:t>
            </a:r>
          </a:p>
          <a:p>
            <a:pPr algn="just"/>
            <a:r>
              <a:rPr lang="zh-TW" altLang="en-US" dirty="0"/>
              <a:t>採用</a:t>
            </a:r>
            <a:r>
              <a:rPr lang="en-US" altLang="zh-TW" dirty="0"/>
              <a:t>100Gbp</a:t>
            </a:r>
            <a:r>
              <a:rPr lang="zh-TW" altLang="en-US" dirty="0"/>
              <a:t>介面的</a:t>
            </a:r>
            <a:r>
              <a:rPr lang="en-US" altLang="zh-TW" dirty="0"/>
              <a:t>IPS/NGFW</a:t>
            </a:r>
          </a:p>
          <a:p>
            <a:pPr algn="just"/>
            <a:r>
              <a:rPr lang="zh-TW" altLang="en-US" dirty="0"/>
              <a:t>實際流量可能遠小於</a:t>
            </a:r>
            <a:r>
              <a:rPr lang="en-US" altLang="zh-TW" dirty="0"/>
              <a:t>100Gbps</a:t>
            </a:r>
          </a:p>
          <a:p>
            <a:pPr algn="just"/>
            <a:endParaRPr lang="en-US" altLang="zh-TW" b="1" dirty="0"/>
          </a:p>
          <a:p>
            <a:pPr algn="just"/>
            <a:r>
              <a:rPr lang="zh-TW" altLang="en-US" b="1" dirty="0"/>
              <a:t>效益分析</a:t>
            </a:r>
            <a:endParaRPr lang="en-US" altLang="zh-TW" dirty="0"/>
          </a:p>
          <a:p>
            <a:pPr algn="just"/>
            <a:r>
              <a:rPr lang="en-US" altLang="zh-TW" dirty="0"/>
              <a:t>100G</a:t>
            </a:r>
            <a:r>
              <a:rPr lang="zh-TW" altLang="en-US" dirty="0"/>
              <a:t>介面</a:t>
            </a:r>
            <a:r>
              <a:rPr lang="en-US" altLang="zh-TW" dirty="0"/>
              <a:t>IPS</a:t>
            </a:r>
            <a:r>
              <a:rPr lang="zh-TW" altLang="en-US" dirty="0"/>
              <a:t>昂貴且甚多運算力閒置</a:t>
            </a:r>
            <a:endParaRPr lang="en-US" altLang="zh-TW" dirty="0"/>
          </a:p>
          <a:p>
            <a:pPr algn="just"/>
            <a:r>
              <a:rPr lang="zh-TW" altLang="en-US" dirty="0"/>
              <a:t>考慮</a:t>
            </a:r>
            <a:r>
              <a:rPr lang="en-US" altLang="zh-TW" dirty="0"/>
              <a:t>100G bypass</a:t>
            </a:r>
            <a:r>
              <a:rPr lang="zh-TW" altLang="en-US" dirty="0"/>
              <a:t>的成本</a:t>
            </a:r>
            <a:endParaRPr lang="en-US" altLang="zh-TW" dirty="0"/>
          </a:p>
          <a:p>
            <a:pPr algn="just"/>
            <a:r>
              <a:rPr lang="en-US" altLang="zh-TW" dirty="0"/>
              <a:t>Q:</a:t>
            </a:r>
            <a:r>
              <a:rPr lang="zh-TW" altLang="en-US" dirty="0"/>
              <a:t> 能否不用</a:t>
            </a:r>
            <a:r>
              <a:rPr lang="en-US" altLang="zh-TW" dirty="0"/>
              <a:t>100G IPS/NGFW</a:t>
            </a:r>
          </a:p>
        </p:txBody>
      </p:sp>
      <p:sp>
        <p:nvSpPr>
          <p:cNvPr id="85" name="矩形圖說文字 69">
            <a:extLst>
              <a:ext uri="{FF2B5EF4-FFF2-40B4-BE49-F238E27FC236}">
                <a16:creationId xmlns:a16="http://schemas.microsoft.com/office/drawing/2014/main" id="{95499A69-CD61-48FD-B401-59F20ACAABA4}"/>
              </a:ext>
            </a:extLst>
          </p:cNvPr>
          <p:cNvSpPr/>
          <p:nvPr/>
        </p:nvSpPr>
        <p:spPr>
          <a:xfrm>
            <a:off x="7503431" y="4519650"/>
            <a:ext cx="4040869" cy="2264231"/>
          </a:xfrm>
          <a:prstGeom prst="wedgeRectCallout">
            <a:avLst>
              <a:gd name="adj1" fmla="val -56239"/>
              <a:gd name="adj2" fmla="val -2164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TW" altLang="en-US" b="1" dirty="0"/>
              <a:t>情境  </a:t>
            </a:r>
            <a:r>
              <a:rPr lang="en-US" altLang="zh-TW" b="1" dirty="0"/>
              <a:t>B</a:t>
            </a:r>
          </a:p>
          <a:p>
            <a:pPr algn="just"/>
            <a:r>
              <a:rPr lang="zh-TW" altLang="en-US" dirty="0"/>
              <a:t>用掉</a:t>
            </a:r>
            <a:r>
              <a:rPr lang="en-US" altLang="zh-TW" dirty="0"/>
              <a:t>IPS/NGFW</a:t>
            </a:r>
            <a:r>
              <a:rPr lang="zh-TW" altLang="en-US" dirty="0"/>
              <a:t>多個網路介面</a:t>
            </a:r>
            <a:r>
              <a:rPr lang="en-US" altLang="zh-TW" dirty="0"/>
              <a:t>(8</a:t>
            </a:r>
            <a:r>
              <a:rPr lang="zh-TW" altLang="en-US" dirty="0"/>
              <a:t>個</a:t>
            </a:r>
            <a:r>
              <a:rPr lang="en-US" altLang="zh-TW" dirty="0"/>
              <a:t>)</a:t>
            </a:r>
          </a:p>
          <a:p>
            <a:pPr algn="just"/>
            <a:r>
              <a:rPr lang="zh-TW" altLang="en-US" dirty="0"/>
              <a:t>四條</a:t>
            </a:r>
            <a:r>
              <a:rPr lang="en-US" altLang="zh-TW" dirty="0"/>
              <a:t>10G</a:t>
            </a:r>
            <a:r>
              <a:rPr lang="zh-TW" altLang="en-US" dirty="0"/>
              <a:t>鏈路的實際流量加總可能不大</a:t>
            </a:r>
            <a:endParaRPr lang="en-US" altLang="zh-TW" dirty="0"/>
          </a:p>
          <a:p>
            <a:pPr algn="just"/>
            <a:endParaRPr lang="en-US" altLang="zh-TW" b="1" dirty="0"/>
          </a:p>
          <a:p>
            <a:pPr algn="just"/>
            <a:r>
              <a:rPr lang="zh-TW" altLang="en-US" b="1" dirty="0"/>
              <a:t>效益分析</a:t>
            </a:r>
            <a:endParaRPr lang="en-US" altLang="zh-TW" b="1" dirty="0"/>
          </a:p>
          <a:p>
            <a:pPr algn="just"/>
            <a:r>
              <a:rPr lang="zh-TW" altLang="en-US" dirty="0"/>
              <a:t>耗用太多介面但甚多運算力閒置</a:t>
            </a:r>
            <a:endParaRPr lang="en-US" altLang="zh-TW" dirty="0"/>
          </a:p>
          <a:p>
            <a:pPr algn="just"/>
            <a:r>
              <a:rPr lang="zh-TW" altLang="en-US" dirty="0"/>
              <a:t>考慮</a:t>
            </a:r>
            <a:r>
              <a:rPr lang="en-US" altLang="zh-TW" dirty="0"/>
              <a:t>10G bypass</a:t>
            </a:r>
            <a:r>
              <a:rPr lang="zh-TW" altLang="en-US" dirty="0"/>
              <a:t>*</a:t>
            </a:r>
            <a:r>
              <a:rPr lang="en-US" altLang="zh-TW" dirty="0"/>
              <a:t>4</a:t>
            </a:r>
            <a:r>
              <a:rPr lang="zh-TW" altLang="en-US" dirty="0"/>
              <a:t>的成本</a:t>
            </a:r>
            <a:endParaRPr lang="en-US" altLang="zh-TW" dirty="0"/>
          </a:p>
          <a:p>
            <a:pPr algn="just"/>
            <a:r>
              <a:rPr lang="en-US" altLang="zh-TW" dirty="0"/>
              <a:t>Q: </a:t>
            </a:r>
            <a:r>
              <a:rPr lang="zh-TW" altLang="en-US" dirty="0"/>
              <a:t>能否減少使用介面或採較小</a:t>
            </a:r>
            <a:r>
              <a:rPr lang="en-US" altLang="zh-TW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702896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8660AA0-E4A9-4A33-8DBA-DEE6DCD7568B}"/>
              </a:ext>
            </a:extLst>
          </p:cNvPr>
          <p:cNvCxnSpPr>
            <a:cxnSpLocks/>
          </p:cNvCxnSpPr>
          <p:nvPr/>
        </p:nvCxnSpPr>
        <p:spPr>
          <a:xfrm>
            <a:off x="838200" y="1990725"/>
            <a:ext cx="5524500" cy="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效益優化方案</a:t>
            </a:r>
            <a:r>
              <a:rPr lang="en-US" altLang="zh-TW" dirty="0"/>
              <a:t>:inline</a:t>
            </a:r>
            <a:r>
              <a:rPr lang="zh-TW" altLang="en-US" dirty="0"/>
              <a:t> </a:t>
            </a:r>
            <a:r>
              <a:rPr lang="en-US" altLang="zh-TW" dirty="0"/>
              <a:t>aggregation</a:t>
            </a:r>
            <a:endParaRPr lang="zh-TW" altLang="en-US" dirty="0"/>
          </a:p>
        </p:txBody>
      </p:sp>
      <p:sp>
        <p:nvSpPr>
          <p:cNvPr id="87" name="流程圖: 程序 86"/>
          <p:cNvSpPr/>
          <p:nvPr/>
        </p:nvSpPr>
        <p:spPr>
          <a:xfrm>
            <a:off x="2540367" y="3172914"/>
            <a:ext cx="1917775" cy="2198419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Grism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2175129" y="3408651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流程圖: 程序 36"/>
          <p:cNvSpPr/>
          <p:nvPr/>
        </p:nvSpPr>
        <p:spPr>
          <a:xfrm>
            <a:off x="2174930" y="4043508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4200483" y="336442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流程圖: 程序 38"/>
          <p:cNvSpPr/>
          <p:nvPr/>
        </p:nvSpPr>
        <p:spPr>
          <a:xfrm>
            <a:off x="4200482" y="4083805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8" name="流程圖: 程序 47"/>
          <p:cNvSpPr/>
          <p:nvPr/>
        </p:nvSpPr>
        <p:spPr>
          <a:xfrm>
            <a:off x="2174929" y="470742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P4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9" name="流程圖: 程序 48"/>
          <p:cNvSpPr/>
          <p:nvPr/>
        </p:nvSpPr>
        <p:spPr>
          <a:xfrm>
            <a:off x="4200481" y="475947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97826" y="5765698"/>
            <a:ext cx="1402655" cy="532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IPS</a:t>
            </a:r>
          </a:p>
        </p:txBody>
      </p:sp>
      <p:cxnSp>
        <p:nvCxnSpPr>
          <p:cNvPr id="18" name="肘形接點 17"/>
          <p:cNvCxnSpPr>
            <a:stCxn id="48" idx="1"/>
            <a:endCxn id="14" idx="1"/>
          </p:cNvCxnSpPr>
          <p:nvPr/>
        </p:nvCxnSpPr>
        <p:spPr>
          <a:xfrm rot="10800000" flipH="1" flipV="1">
            <a:off x="2174928" y="4950306"/>
            <a:ext cx="622897" cy="1081721"/>
          </a:xfrm>
          <a:prstGeom prst="bentConnector3">
            <a:avLst>
              <a:gd name="adj1" fmla="val -36699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肘形接點 49"/>
          <p:cNvCxnSpPr>
            <a:stCxn id="49" idx="3"/>
            <a:endCxn id="14" idx="3"/>
          </p:cNvCxnSpPr>
          <p:nvPr/>
        </p:nvCxnSpPr>
        <p:spPr>
          <a:xfrm flipH="1">
            <a:off x="4200481" y="5002360"/>
            <a:ext cx="622897" cy="1029668"/>
          </a:xfrm>
          <a:prstGeom prst="bentConnector3">
            <a:avLst>
              <a:gd name="adj1" fmla="val -36699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2797825" y="1801580"/>
            <a:ext cx="1339168" cy="10337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Router</a:t>
            </a:r>
          </a:p>
        </p:txBody>
      </p:sp>
      <p:cxnSp>
        <p:nvCxnSpPr>
          <p:cNvPr id="53" name="肘形接點 52"/>
          <p:cNvCxnSpPr>
            <a:endCxn id="30" idx="1"/>
          </p:cNvCxnSpPr>
          <p:nvPr/>
        </p:nvCxnSpPr>
        <p:spPr>
          <a:xfrm rot="10800000" flipV="1">
            <a:off x="2175129" y="2587160"/>
            <a:ext cx="622696" cy="1064377"/>
          </a:xfrm>
          <a:prstGeom prst="bentConnector3">
            <a:avLst>
              <a:gd name="adj1" fmla="val 136711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肘形接點 55"/>
          <p:cNvCxnSpPr>
            <a:endCxn id="38" idx="3"/>
          </p:cNvCxnSpPr>
          <p:nvPr/>
        </p:nvCxnSpPr>
        <p:spPr>
          <a:xfrm>
            <a:off x="4136993" y="2587161"/>
            <a:ext cx="686387" cy="1020155"/>
          </a:xfrm>
          <a:prstGeom prst="bentConnector3">
            <a:avLst>
              <a:gd name="adj1" fmla="val 133305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肘形接點 58"/>
          <p:cNvCxnSpPr>
            <a:stCxn id="52" idx="1"/>
            <a:endCxn id="37" idx="1"/>
          </p:cNvCxnSpPr>
          <p:nvPr/>
        </p:nvCxnSpPr>
        <p:spPr>
          <a:xfrm rot="10800000" flipV="1">
            <a:off x="2174931" y="2318463"/>
            <a:ext cx="622895" cy="1967932"/>
          </a:xfrm>
          <a:prstGeom prst="bentConnector3">
            <a:avLst>
              <a:gd name="adj1" fmla="val 174759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肘形接點 62"/>
          <p:cNvCxnSpPr>
            <a:stCxn id="52" idx="3"/>
            <a:endCxn id="39" idx="3"/>
          </p:cNvCxnSpPr>
          <p:nvPr/>
        </p:nvCxnSpPr>
        <p:spPr>
          <a:xfrm>
            <a:off x="4136993" y="2318463"/>
            <a:ext cx="686386" cy="2008229"/>
          </a:xfrm>
          <a:prstGeom prst="bentConnector3">
            <a:avLst>
              <a:gd name="adj1" fmla="val 171133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矩形圖說文字 69"/>
          <p:cNvSpPr/>
          <p:nvPr/>
        </p:nvSpPr>
        <p:spPr>
          <a:xfrm>
            <a:off x="5860797" y="2587159"/>
            <a:ext cx="5779660" cy="3444863"/>
          </a:xfrm>
          <a:prstGeom prst="wedgeRectCallout">
            <a:avLst>
              <a:gd name="adj1" fmla="val -56239"/>
              <a:gd name="adj2" fmla="val -2164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TW" dirty="0"/>
              <a:t>Router</a:t>
            </a:r>
            <a:r>
              <a:rPr lang="zh-TW" altLang="en-US" dirty="0"/>
              <a:t>上做出多個</a:t>
            </a:r>
            <a:r>
              <a:rPr lang="en-US" altLang="zh-TW" dirty="0"/>
              <a:t>10G</a:t>
            </a:r>
            <a:r>
              <a:rPr lang="zh-TW" altLang="en-US" dirty="0"/>
              <a:t>迴圈，把</a:t>
            </a:r>
            <a:r>
              <a:rPr lang="en-US" altLang="zh-TW" dirty="0"/>
              <a:t>IPS/NGFW</a:t>
            </a:r>
            <a:r>
              <a:rPr lang="zh-TW" altLang="en-US" dirty="0"/>
              <a:t>建在</a:t>
            </a:r>
            <a:r>
              <a:rPr lang="en-US" altLang="zh-TW" dirty="0"/>
              <a:t>10G</a:t>
            </a:r>
            <a:r>
              <a:rPr lang="zh-TW" altLang="en-US" dirty="0"/>
              <a:t>上</a:t>
            </a:r>
            <a:endParaRPr lang="en-US" altLang="zh-TW" dirty="0"/>
          </a:p>
          <a:p>
            <a:pPr algn="just"/>
            <a:r>
              <a:rPr lang="zh-TW" altLang="en-US" dirty="0"/>
              <a:t>把</a:t>
            </a:r>
            <a:r>
              <a:rPr lang="en-US" altLang="zh-TW" dirty="0"/>
              <a:t>Case A</a:t>
            </a:r>
            <a:r>
              <a:rPr lang="zh-TW" altLang="en-US" dirty="0"/>
              <a:t>轉化成</a:t>
            </a:r>
            <a:r>
              <a:rPr lang="en-US" altLang="zh-TW" dirty="0"/>
              <a:t>Case B</a:t>
            </a:r>
          </a:p>
          <a:p>
            <a:pPr algn="just"/>
            <a:endParaRPr lang="en-US" altLang="zh-TW" dirty="0"/>
          </a:p>
          <a:p>
            <a:pPr algn="just"/>
            <a:r>
              <a:rPr lang="zh-TW" altLang="en-US" dirty="0"/>
              <a:t>說明</a:t>
            </a:r>
            <a:r>
              <a:rPr lang="en-US" altLang="zh-TW" dirty="0"/>
              <a:t>:</a:t>
            </a:r>
          </a:p>
          <a:p>
            <a:pPr algn="just"/>
            <a:r>
              <a:rPr lang="zh-TW" altLang="en-US" dirty="0"/>
              <a:t>這案例比較複雜，為了讓</a:t>
            </a:r>
            <a:r>
              <a:rPr lang="en-US" altLang="zh-TW" dirty="0"/>
              <a:t>P0</a:t>
            </a:r>
            <a:r>
              <a:rPr lang="zh-TW" altLang="en-US" dirty="0"/>
              <a:t>進來的封包，經過</a:t>
            </a:r>
            <a:r>
              <a:rPr lang="en-US" altLang="zh-TW" dirty="0"/>
              <a:t>IPS</a:t>
            </a:r>
            <a:r>
              <a:rPr lang="zh-TW" altLang="en-US" dirty="0"/>
              <a:t>後能從</a:t>
            </a:r>
            <a:r>
              <a:rPr lang="en-US" altLang="zh-TW" dirty="0"/>
              <a:t>P1</a:t>
            </a:r>
            <a:r>
              <a:rPr lang="zh-TW" altLang="en-US" dirty="0"/>
              <a:t>出去，</a:t>
            </a:r>
            <a:r>
              <a:rPr lang="en-US" altLang="zh-TW" dirty="0"/>
              <a:t>P1</a:t>
            </a:r>
            <a:r>
              <a:rPr lang="zh-TW" altLang="en-US" dirty="0"/>
              <a:t>進來的封包經過</a:t>
            </a:r>
            <a:r>
              <a:rPr lang="en-US" altLang="zh-TW" dirty="0"/>
              <a:t>IPS</a:t>
            </a:r>
            <a:r>
              <a:rPr lang="zh-TW" altLang="en-US" dirty="0"/>
              <a:t>後能從</a:t>
            </a:r>
            <a:r>
              <a:rPr lang="en-US" altLang="zh-TW" dirty="0"/>
              <a:t>P0</a:t>
            </a:r>
            <a:r>
              <a:rPr lang="zh-TW" altLang="en-US" dirty="0"/>
              <a:t>出去</a:t>
            </a:r>
            <a:r>
              <a:rPr lang="en-US" altLang="zh-TW" dirty="0"/>
              <a:t>(P2,P3</a:t>
            </a:r>
            <a:r>
              <a:rPr lang="zh-TW" altLang="en-US" dirty="0"/>
              <a:t>同樣意思</a:t>
            </a:r>
            <a:r>
              <a:rPr lang="en-US" altLang="zh-TW" dirty="0"/>
              <a:t>)</a:t>
            </a:r>
            <a:r>
              <a:rPr lang="zh-TW" altLang="en-US" dirty="0"/>
              <a:t>，要做三件事</a:t>
            </a:r>
            <a:endParaRPr lang="en-US" altLang="zh-TW" dirty="0"/>
          </a:p>
          <a:p>
            <a:pPr marL="342900" indent="-342900" algn="just">
              <a:buAutoNum type="arabicPeriod"/>
            </a:pPr>
            <a:r>
              <a:rPr lang="zh-TW" altLang="en-US" dirty="0"/>
              <a:t>從</a:t>
            </a:r>
            <a:r>
              <a:rPr lang="en-US" altLang="zh-TW" dirty="0"/>
              <a:t>P4,P5</a:t>
            </a:r>
            <a:r>
              <a:rPr lang="zh-TW" altLang="en-US" dirty="0"/>
              <a:t>出去的封包要打上標記</a:t>
            </a:r>
            <a:endParaRPr lang="en-US" altLang="zh-TW" dirty="0"/>
          </a:p>
          <a:p>
            <a:pPr marL="342900" indent="-342900" algn="just">
              <a:buAutoNum type="arabicPeriod"/>
            </a:pPr>
            <a:r>
              <a:rPr lang="zh-TW" altLang="en-US" dirty="0"/>
              <a:t>從</a:t>
            </a:r>
            <a:r>
              <a:rPr lang="en-US" altLang="zh-TW" dirty="0"/>
              <a:t>P4,P5</a:t>
            </a:r>
            <a:r>
              <a:rPr lang="zh-TW" altLang="en-US" dirty="0"/>
              <a:t>進來的封包要根據標記送到正確的地方</a:t>
            </a:r>
            <a:endParaRPr lang="en-US" altLang="zh-TW" dirty="0"/>
          </a:p>
          <a:p>
            <a:pPr marL="342900" indent="-342900" algn="just">
              <a:buAutoNum type="arabicPeriod"/>
            </a:pPr>
            <a:r>
              <a:rPr lang="zh-TW" altLang="en-US" dirty="0"/>
              <a:t>從</a:t>
            </a:r>
            <a:r>
              <a:rPr lang="en-US" altLang="zh-TW" dirty="0"/>
              <a:t>P4,P5</a:t>
            </a:r>
            <a:r>
              <a:rPr lang="zh-TW" altLang="en-US" dirty="0"/>
              <a:t>進來的封包要移除標記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ABA390C-6273-4440-BD5C-EB71B1472D01}"/>
              </a:ext>
            </a:extLst>
          </p:cNvPr>
          <p:cNvSpPr txBox="1"/>
          <p:nvPr/>
        </p:nvSpPr>
        <p:spPr>
          <a:xfrm>
            <a:off x="4410152" y="1547813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100G</a:t>
            </a:r>
            <a:endParaRPr lang="zh-TW" altLang="en-US" sz="16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E973353-87CC-4AB1-B5D5-0BFC39BE1724}"/>
              </a:ext>
            </a:extLst>
          </p:cNvPr>
          <p:cNvSpPr txBox="1"/>
          <p:nvPr/>
        </p:nvSpPr>
        <p:spPr>
          <a:xfrm>
            <a:off x="1826611" y="1562329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100G</a:t>
            </a:r>
            <a:endParaRPr lang="zh-TW" altLang="en-US" sz="16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C31E902-BCD1-401F-B4DA-92118A3EFE18}"/>
              </a:ext>
            </a:extLst>
          </p:cNvPr>
          <p:cNvSpPr txBox="1"/>
          <p:nvPr/>
        </p:nvSpPr>
        <p:spPr>
          <a:xfrm>
            <a:off x="2396746" y="2106615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39C7BEB-7472-4EC0-996B-0CA8EBA097F5}"/>
              </a:ext>
            </a:extLst>
          </p:cNvPr>
          <p:cNvSpPr txBox="1"/>
          <p:nvPr/>
        </p:nvSpPr>
        <p:spPr>
          <a:xfrm>
            <a:off x="2396750" y="2324325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FEE8666-D306-4E9E-BFBA-CE8858FE35AC}"/>
              </a:ext>
            </a:extLst>
          </p:cNvPr>
          <p:cNvSpPr txBox="1"/>
          <p:nvPr/>
        </p:nvSpPr>
        <p:spPr>
          <a:xfrm>
            <a:off x="4109437" y="2106615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0B6BB63-EA3A-4B90-8511-2B3ABA51A9C5}"/>
              </a:ext>
            </a:extLst>
          </p:cNvPr>
          <p:cNvSpPr txBox="1"/>
          <p:nvPr/>
        </p:nvSpPr>
        <p:spPr>
          <a:xfrm>
            <a:off x="4109438" y="235335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10G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47452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CECI</a:t>
            </a:r>
            <a:r>
              <a:rPr lang="zh-TW" altLang="en-US" dirty="0"/>
              <a:t>案例探討</a:t>
            </a:r>
          </a:p>
        </p:txBody>
      </p:sp>
      <p:sp>
        <p:nvSpPr>
          <p:cNvPr id="5" name="雲朵形 4">
            <a:extLst>
              <a:ext uri="{FF2B5EF4-FFF2-40B4-BE49-F238E27FC236}">
                <a16:creationId xmlns:a16="http://schemas.microsoft.com/office/drawing/2014/main" id="{D422E2BA-26D1-4C82-B405-48603BF7B6BA}"/>
              </a:ext>
            </a:extLst>
          </p:cNvPr>
          <p:cNvSpPr/>
          <p:nvPr/>
        </p:nvSpPr>
        <p:spPr>
          <a:xfrm>
            <a:off x="7110894" y="2963664"/>
            <a:ext cx="1802674" cy="1140822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04D97B2-BF01-4754-A22D-30507CC50224}"/>
              </a:ext>
            </a:extLst>
          </p:cNvPr>
          <p:cNvSpPr/>
          <p:nvPr/>
        </p:nvSpPr>
        <p:spPr>
          <a:xfrm>
            <a:off x="919100" y="3071313"/>
            <a:ext cx="1410788" cy="9318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LAN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9CCBE6F-C81E-4826-9BED-95774DE17239}"/>
              </a:ext>
            </a:extLst>
          </p:cNvPr>
          <p:cNvCxnSpPr>
            <a:cxnSpLocks/>
            <a:stCxn id="31" idx="1"/>
            <a:endCxn id="5" idx="2"/>
          </p:cNvCxnSpPr>
          <p:nvPr/>
        </p:nvCxnSpPr>
        <p:spPr>
          <a:xfrm>
            <a:off x="6525242" y="3108629"/>
            <a:ext cx="591244" cy="425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5B12F06-2776-4EE6-8E22-D8615433F718}"/>
              </a:ext>
            </a:extLst>
          </p:cNvPr>
          <p:cNvCxnSpPr>
            <a:cxnSpLocks/>
            <a:stCxn id="77" idx="0"/>
            <a:endCxn id="5" idx="2"/>
          </p:cNvCxnSpPr>
          <p:nvPr/>
        </p:nvCxnSpPr>
        <p:spPr>
          <a:xfrm flipV="1">
            <a:off x="6527420" y="3534075"/>
            <a:ext cx="589066" cy="469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八邊形 30">
            <a:extLst>
              <a:ext uri="{FF2B5EF4-FFF2-40B4-BE49-F238E27FC236}">
                <a16:creationId xmlns:a16="http://schemas.microsoft.com/office/drawing/2014/main" id="{65707EE0-7756-4673-A6F7-0216AF6A4515}"/>
              </a:ext>
            </a:extLst>
          </p:cNvPr>
          <p:cNvSpPr/>
          <p:nvPr/>
        </p:nvSpPr>
        <p:spPr>
          <a:xfrm>
            <a:off x="5558591" y="2440006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sp>
        <p:nvSpPr>
          <p:cNvPr id="70" name="八邊形 69">
            <a:extLst>
              <a:ext uri="{FF2B5EF4-FFF2-40B4-BE49-F238E27FC236}">
                <a16:creationId xmlns:a16="http://schemas.microsoft.com/office/drawing/2014/main" id="{C78D1B22-BBCC-4282-8E9B-B284017C7179}"/>
              </a:ext>
            </a:extLst>
          </p:cNvPr>
          <p:cNvSpPr/>
          <p:nvPr/>
        </p:nvSpPr>
        <p:spPr>
          <a:xfrm>
            <a:off x="3026574" y="2443152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6" name="八邊形 75">
            <a:extLst>
              <a:ext uri="{FF2B5EF4-FFF2-40B4-BE49-F238E27FC236}">
                <a16:creationId xmlns:a16="http://schemas.microsoft.com/office/drawing/2014/main" id="{8E648CA4-1D32-4375-869A-18491A6A86B5}"/>
              </a:ext>
            </a:extLst>
          </p:cNvPr>
          <p:cNvSpPr/>
          <p:nvPr/>
        </p:nvSpPr>
        <p:spPr>
          <a:xfrm>
            <a:off x="3026573" y="3726181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7" name="八邊形 76">
            <a:extLst>
              <a:ext uri="{FF2B5EF4-FFF2-40B4-BE49-F238E27FC236}">
                <a16:creationId xmlns:a16="http://schemas.microsoft.com/office/drawing/2014/main" id="{53B3F4BD-E92B-480B-8845-794F2CADB2D0}"/>
              </a:ext>
            </a:extLst>
          </p:cNvPr>
          <p:cNvSpPr/>
          <p:nvPr/>
        </p:nvSpPr>
        <p:spPr>
          <a:xfrm>
            <a:off x="5560769" y="3726181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DAA3D08-3CDD-4A1C-9905-3060F670CC1B}"/>
              </a:ext>
            </a:extLst>
          </p:cNvPr>
          <p:cNvCxnSpPr>
            <a:stCxn id="70" idx="0"/>
            <a:endCxn id="31" idx="5"/>
          </p:cNvCxnSpPr>
          <p:nvPr/>
        </p:nvCxnSpPr>
        <p:spPr>
          <a:xfrm flipV="1">
            <a:off x="3993225" y="2716955"/>
            <a:ext cx="1565366" cy="3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C2DBBD7C-FD1D-49CB-96D6-54DEA4DA0EA9}"/>
              </a:ext>
            </a:extLst>
          </p:cNvPr>
          <p:cNvCxnSpPr>
            <a:stCxn id="70" idx="1"/>
            <a:endCxn id="77" idx="5"/>
          </p:cNvCxnSpPr>
          <p:nvPr/>
        </p:nvCxnSpPr>
        <p:spPr>
          <a:xfrm>
            <a:off x="3993225" y="3111775"/>
            <a:ext cx="1567544" cy="89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1AA65050-0CBD-4900-8FCE-4E6FAEFED196}"/>
              </a:ext>
            </a:extLst>
          </p:cNvPr>
          <p:cNvCxnSpPr>
            <a:stCxn id="76" idx="0"/>
            <a:endCxn id="31" idx="4"/>
          </p:cNvCxnSpPr>
          <p:nvPr/>
        </p:nvCxnSpPr>
        <p:spPr>
          <a:xfrm flipV="1">
            <a:off x="3993224" y="3108629"/>
            <a:ext cx="1565367" cy="894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BEF638AC-7090-4C83-AA99-189D774A9FC0}"/>
              </a:ext>
            </a:extLst>
          </p:cNvPr>
          <p:cNvCxnSpPr>
            <a:stCxn id="76" idx="1"/>
            <a:endCxn id="77" idx="4"/>
          </p:cNvCxnSpPr>
          <p:nvPr/>
        </p:nvCxnSpPr>
        <p:spPr>
          <a:xfrm>
            <a:off x="3993224" y="4394804"/>
            <a:ext cx="1567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960552FC-4270-456F-8B1F-6F42A785AC52}"/>
              </a:ext>
            </a:extLst>
          </p:cNvPr>
          <p:cNvCxnSpPr>
            <a:stCxn id="6" idx="6"/>
            <a:endCxn id="70" idx="4"/>
          </p:cNvCxnSpPr>
          <p:nvPr/>
        </p:nvCxnSpPr>
        <p:spPr>
          <a:xfrm flipV="1">
            <a:off x="2329888" y="3111775"/>
            <a:ext cx="696686" cy="425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EEB1D6F7-1DA6-47A3-BC15-4ADD943B5413}"/>
              </a:ext>
            </a:extLst>
          </p:cNvPr>
          <p:cNvCxnSpPr>
            <a:stCxn id="6" idx="6"/>
            <a:endCxn id="76" idx="5"/>
          </p:cNvCxnSpPr>
          <p:nvPr/>
        </p:nvCxnSpPr>
        <p:spPr>
          <a:xfrm>
            <a:off x="2329888" y="3537222"/>
            <a:ext cx="696685" cy="465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05D1BFC7-2D3F-4B4D-B369-310B53C7C33A}"/>
              </a:ext>
            </a:extLst>
          </p:cNvPr>
          <p:cNvSpPr txBox="1"/>
          <p:nvPr/>
        </p:nvSpPr>
        <p:spPr>
          <a:xfrm>
            <a:off x="5558590" y="4791010"/>
            <a:ext cx="4202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UG: </a:t>
            </a:r>
            <a:r>
              <a:rPr lang="en-US" altLang="zh-TW" dirty="0" err="1"/>
              <a:t>Uguard</a:t>
            </a:r>
            <a:r>
              <a:rPr lang="en-US" altLang="zh-TW" dirty="0"/>
              <a:t> (Active-Standby)</a:t>
            </a:r>
          </a:p>
          <a:p>
            <a:r>
              <a:rPr lang="zh-TW" altLang="en-US" dirty="0"/>
              <a:t>       切換規則</a:t>
            </a:r>
            <a:r>
              <a:rPr lang="en-US" altLang="zh-TW" dirty="0"/>
              <a:t>: Link down/LAG fail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42C8EA08-960C-451D-B4C9-27638C2E8FF6}"/>
              </a:ext>
            </a:extLst>
          </p:cNvPr>
          <p:cNvSpPr/>
          <p:nvPr/>
        </p:nvSpPr>
        <p:spPr>
          <a:xfrm>
            <a:off x="4385455" y="2671978"/>
            <a:ext cx="269966" cy="806751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A776546B-2AFF-4895-9FEF-77115D91B42D}"/>
              </a:ext>
            </a:extLst>
          </p:cNvPr>
          <p:cNvSpPr/>
          <p:nvPr/>
        </p:nvSpPr>
        <p:spPr>
          <a:xfrm>
            <a:off x="4359209" y="3653131"/>
            <a:ext cx="269966" cy="806751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0A611788-764A-486C-A8A1-84E12A7741FF}"/>
              </a:ext>
            </a:extLst>
          </p:cNvPr>
          <p:cNvSpPr txBox="1"/>
          <p:nvPr/>
        </p:nvSpPr>
        <p:spPr>
          <a:xfrm>
            <a:off x="4629175" y="4710286"/>
            <a:ext cx="85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LAG</a:t>
            </a:r>
            <a:endParaRPr lang="zh-TW" altLang="en-US" dirty="0"/>
          </a:p>
        </p:txBody>
      </p:sp>
      <p:cxnSp>
        <p:nvCxnSpPr>
          <p:cNvPr id="128" name="直線單箭頭接點 127">
            <a:extLst>
              <a:ext uri="{FF2B5EF4-FFF2-40B4-BE49-F238E27FC236}">
                <a16:creationId xmlns:a16="http://schemas.microsoft.com/office/drawing/2014/main" id="{5816BE39-F5F6-4CFA-BD70-2B840BB56EBD}"/>
              </a:ext>
            </a:extLst>
          </p:cNvPr>
          <p:cNvCxnSpPr>
            <a:stCxn id="124" idx="3"/>
            <a:endCxn id="126" idx="0"/>
          </p:cNvCxnSpPr>
          <p:nvPr/>
        </p:nvCxnSpPr>
        <p:spPr>
          <a:xfrm>
            <a:off x="4424991" y="3360583"/>
            <a:ext cx="629816" cy="134970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線單箭頭接點 128">
            <a:extLst>
              <a:ext uri="{FF2B5EF4-FFF2-40B4-BE49-F238E27FC236}">
                <a16:creationId xmlns:a16="http://schemas.microsoft.com/office/drawing/2014/main" id="{88382634-8232-4A18-94D8-D49AD13D9080}"/>
              </a:ext>
            </a:extLst>
          </p:cNvPr>
          <p:cNvCxnSpPr>
            <a:cxnSpLocks/>
            <a:stCxn id="125" idx="3"/>
            <a:endCxn id="126" idx="0"/>
          </p:cNvCxnSpPr>
          <p:nvPr/>
        </p:nvCxnSpPr>
        <p:spPr>
          <a:xfrm>
            <a:off x="4398745" y="4341736"/>
            <a:ext cx="656062" cy="36855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B9E30C3-1C56-49AD-A2D4-7796AE142658}"/>
              </a:ext>
            </a:extLst>
          </p:cNvPr>
          <p:cNvSpPr txBox="1"/>
          <p:nvPr/>
        </p:nvSpPr>
        <p:spPr>
          <a:xfrm>
            <a:off x="4271900" y="1000715"/>
            <a:ext cx="246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Without IPS</a:t>
            </a:r>
            <a:endParaRPr lang="zh-TW" altLang="en-US" sz="2400" dirty="0"/>
          </a:p>
        </p:txBody>
      </p: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024BECC0-D4D1-4FA0-90EE-3BA4603E1D81}"/>
              </a:ext>
            </a:extLst>
          </p:cNvPr>
          <p:cNvGrpSpPr/>
          <p:nvPr/>
        </p:nvGrpSpPr>
        <p:grpSpPr>
          <a:xfrm>
            <a:off x="2747900" y="2326277"/>
            <a:ext cx="1524000" cy="2938669"/>
            <a:chOff x="2747900" y="2326277"/>
            <a:chExt cx="1524000" cy="2938669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B184CDB8-6840-4986-ACD3-4A6FC4BE6796}"/>
                </a:ext>
              </a:extLst>
            </p:cNvPr>
            <p:cNvSpPr/>
            <p:nvPr/>
          </p:nvSpPr>
          <p:spPr>
            <a:xfrm>
              <a:off x="2747900" y="2326277"/>
              <a:ext cx="1524000" cy="293866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F6E62350-EBAE-4639-8A32-3AC4E632E355}"/>
                </a:ext>
              </a:extLst>
            </p:cNvPr>
            <p:cNvSpPr txBox="1"/>
            <p:nvPr/>
          </p:nvSpPr>
          <p:spPr>
            <a:xfrm>
              <a:off x="2894111" y="4791010"/>
              <a:ext cx="1338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Core Switch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674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CECI</a:t>
            </a:r>
            <a:r>
              <a:rPr lang="zh-TW" altLang="en-US" dirty="0"/>
              <a:t>案例探討</a:t>
            </a:r>
          </a:p>
        </p:txBody>
      </p:sp>
      <p:sp>
        <p:nvSpPr>
          <p:cNvPr id="5" name="雲朵形 4">
            <a:extLst>
              <a:ext uri="{FF2B5EF4-FFF2-40B4-BE49-F238E27FC236}">
                <a16:creationId xmlns:a16="http://schemas.microsoft.com/office/drawing/2014/main" id="{D422E2BA-26D1-4C82-B405-48603BF7B6BA}"/>
              </a:ext>
            </a:extLst>
          </p:cNvPr>
          <p:cNvSpPr/>
          <p:nvPr/>
        </p:nvSpPr>
        <p:spPr>
          <a:xfrm>
            <a:off x="8059438" y="2963664"/>
            <a:ext cx="1802674" cy="1140822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04D97B2-BF01-4754-A22D-30507CC50224}"/>
              </a:ext>
            </a:extLst>
          </p:cNvPr>
          <p:cNvSpPr/>
          <p:nvPr/>
        </p:nvSpPr>
        <p:spPr>
          <a:xfrm>
            <a:off x="919100" y="3071313"/>
            <a:ext cx="1410788" cy="9318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LAN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9CCBE6F-C81E-4826-9BED-95774DE17239}"/>
              </a:ext>
            </a:extLst>
          </p:cNvPr>
          <p:cNvCxnSpPr>
            <a:cxnSpLocks/>
            <a:stCxn id="31" idx="1"/>
            <a:endCxn id="5" idx="2"/>
          </p:cNvCxnSpPr>
          <p:nvPr/>
        </p:nvCxnSpPr>
        <p:spPr>
          <a:xfrm>
            <a:off x="7473786" y="3108629"/>
            <a:ext cx="591244" cy="425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5B12F06-2776-4EE6-8E22-D8615433F718}"/>
              </a:ext>
            </a:extLst>
          </p:cNvPr>
          <p:cNvCxnSpPr>
            <a:cxnSpLocks/>
            <a:stCxn id="77" idx="0"/>
            <a:endCxn id="5" idx="2"/>
          </p:cNvCxnSpPr>
          <p:nvPr/>
        </p:nvCxnSpPr>
        <p:spPr>
          <a:xfrm flipV="1">
            <a:off x="7475964" y="3534075"/>
            <a:ext cx="589066" cy="469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八邊形 30">
            <a:extLst>
              <a:ext uri="{FF2B5EF4-FFF2-40B4-BE49-F238E27FC236}">
                <a16:creationId xmlns:a16="http://schemas.microsoft.com/office/drawing/2014/main" id="{65707EE0-7756-4673-A6F7-0216AF6A4515}"/>
              </a:ext>
            </a:extLst>
          </p:cNvPr>
          <p:cNvSpPr/>
          <p:nvPr/>
        </p:nvSpPr>
        <p:spPr>
          <a:xfrm>
            <a:off x="6507135" y="2440006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sp>
        <p:nvSpPr>
          <p:cNvPr id="70" name="八邊形 69">
            <a:extLst>
              <a:ext uri="{FF2B5EF4-FFF2-40B4-BE49-F238E27FC236}">
                <a16:creationId xmlns:a16="http://schemas.microsoft.com/office/drawing/2014/main" id="{C78D1B22-BBCC-4282-8E9B-B284017C7179}"/>
              </a:ext>
            </a:extLst>
          </p:cNvPr>
          <p:cNvSpPr/>
          <p:nvPr/>
        </p:nvSpPr>
        <p:spPr>
          <a:xfrm>
            <a:off x="3026574" y="2443152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6" name="八邊形 75">
            <a:extLst>
              <a:ext uri="{FF2B5EF4-FFF2-40B4-BE49-F238E27FC236}">
                <a16:creationId xmlns:a16="http://schemas.microsoft.com/office/drawing/2014/main" id="{8E648CA4-1D32-4375-869A-18491A6A86B5}"/>
              </a:ext>
            </a:extLst>
          </p:cNvPr>
          <p:cNvSpPr/>
          <p:nvPr/>
        </p:nvSpPr>
        <p:spPr>
          <a:xfrm>
            <a:off x="3026573" y="3726181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7" name="八邊形 76">
            <a:extLst>
              <a:ext uri="{FF2B5EF4-FFF2-40B4-BE49-F238E27FC236}">
                <a16:creationId xmlns:a16="http://schemas.microsoft.com/office/drawing/2014/main" id="{53B3F4BD-E92B-480B-8845-794F2CADB2D0}"/>
              </a:ext>
            </a:extLst>
          </p:cNvPr>
          <p:cNvSpPr/>
          <p:nvPr/>
        </p:nvSpPr>
        <p:spPr>
          <a:xfrm>
            <a:off x="6509313" y="3726181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DAA3D08-3CDD-4A1C-9905-3060F670CC1B}"/>
              </a:ext>
            </a:extLst>
          </p:cNvPr>
          <p:cNvCxnSpPr>
            <a:stCxn id="70" idx="0"/>
            <a:endCxn id="31" idx="5"/>
          </p:cNvCxnSpPr>
          <p:nvPr/>
        </p:nvCxnSpPr>
        <p:spPr>
          <a:xfrm flipV="1">
            <a:off x="3993225" y="2716955"/>
            <a:ext cx="2513910" cy="3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C2DBBD7C-FD1D-49CB-96D6-54DEA4DA0EA9}"/>
              </a:ext>
            </a:extLst>
          </p:cNvPr>
          <p:cNvCxnSpPr>
            <a:stCxn id="70" idx="1"/>
            <a:endCxn id="77" idx="5"/>
          </p:cNvCxnSpPr>
          <p:nvPr/>
        </p:nvCxnSpPr>
        <p:spPr>
          <a:xfrm>
            <a:off x="3993225" y="3111775"/>
            <a:ext cx="2516088" cy="89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1AA65050-0CBD-4900-8FCE-4E6FAEFED196}"/>
              </a:ext>
            </a:extLst>
          </p:cNvPr>
          <p:cNvCxnSpPr>
            <a:stCxn id="76" idx="0"/>
            <a:endCxn id="31" idx="4"/>
          </p:cNvCxnSpPr>
          <p:nvPr/>
        </p:nvCxnSpPr>
        <p:spPr>
          <a:xfrm flipV="1">
            <a:off x="3993224" y="3108629"/>
            <a:ext cx="2513911" cy="894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BEF638AC-7090-4C83-AA99-189D774A9FC0}"/>
              </a:ext>
            </a:extLst>
          </p:cNvPr>
          <p:cNvCxnSpPr>
            <a:stCxn id="76" idx="1"/>
            <a:endCxn id="77" idx="4"/>
          </p:cNvCxnSpPr>
          <p:nvPr/>
        </p:nvCxnSpPr>
        <p:spPr>
          <a:xfrm>
            <a:off x="3993224" y="4394804"/>
            <a:ext cx="25160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960552FC-4270-456F-8B1F-6F42A785AC52}"/>
              </a:ext>
            </a:extLst>
          </p:cNvPr>
          <p:cNvCxnSpPr>
            <a:stCxn id="6" idx="6"/>
            <a:endCxn id="70" idx="4"/>
          </p:cNvCxnSpPr>
          <p:nvPr/>
        </p:nvCxnSpPr>
        <p:spPr>
          <a:xfrm flipV="1">
            <a:off x="2329888" y="3111775"/>
            <a:ext cx="696686" cy="425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EEB1D6F7-1DA6-47A3-BC15-4ADD943B5413}"/>
              </a:ext>
            </a:extLst>
          </p:cNvPr>
          <p:cNvCxnSpPr>
            <a:stCxn id="6" idx="6"/>
            <a:endCxn id="76" idx="5"/>
          </p:cNvCxnSpPr>
          <p:nvPr/>
        </p:nvCxnSpPr>
        <p:spPr>
          <a:xfrm>
            <a:off x="2329888" y="3537222"/>
            <a:ext cx="696685" cy="465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B9E30C3-1C56-49AD-A2D4-7796AE142658}"/>
              </a:ext>
            </a:extLst>
          </p:cNvPr>
          <p:cNvSpPr txBox="1"/>
          <p:nvPr/>
        </p:nvSpPr>
        <p:spPr>
          <a:xfrm>
            <a:off x="4271900" y="1000715"/>
            <a:ext cx="246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With IPS</a:t>
            </a:r>
            <a:endParaRPr lang="zh-TW" altLang="en-US" sz="2400" dirty="0"/>
          </a:p>
        </p:txBody>
      </p: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024BECC0-D4D1-4FA0-90EE-3BA4603E1D81}"/>
              </a:ext>
            </a:extLst>
          </p:cNvPr>
          <p:cNvGrpSpPr/>
          <p:nvPr/>
        </p:nvGrpSpPr>
        <p:grpSpPr>
          <a:xfrm>
            <a:off x="2747900" y="2326277"/>
            <a:ext cx="1524000" cy="2938669"/>
            <a:chOff x="2747900" y="2326277"/>
            <a:chExt cx="1524000" cy="2938669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B184CDB8-6840-4986-ACD3-4A6FC4BE6796}"/>
                </a:ext>
              </a:extLst>
            </p:cNvPr>
            <p:cNvSpPr/>
            <p:nvPr/>
          </p:nvSpPr>
          <p:spPr>
            <a:xfrm>
              <a:off x="2747900" y="2326277"/>
              <a:ext cx="1524000" cy="293866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F6E62350-EBAE-4639-8A32-3AC4E632E355}"/>
                </a:ext>
              </a:extLst>
            </p:cNvPr>
            <p:cNvSpPr txBox="1"/>
            <p:nvPr/>
          </p:nvSpPr>
          <p:spPr>
            <a:xfrm>
              <a:off x="2894111" y="4791010"/>
              <a:ext cx="1338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Core Switch</a:t>
              </a:r>
              <a:endParaRPr lang="zh-TW" altLang="en-US" dirty="0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0B75E101-DB03-40D8-A71F-E1B5ADB17C9E}"/>
              </a:ext>
            </a:extLst>
          </p:cNvPr>
          <p:cNvSpPr/>
          <p:nvPr/>
        </p:nvSpPr>
        <p:spPr>
          <a:xfrm>
            <a:off x="5076009" y="2411842"/>
            <a:ext cx="627015" cy="596422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</a:t>
            </a:r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10B4063-9C9B-4154-A762-AAC571CA5DA3}"/>
              </a:ext>
            </a:extLst>
          </p:cNvPr>
          <p:cNvSpPr/>
          <p:nvPr/>
        </p:nvSpPr>
        <p:spPr>
          <a:xfrm>
            <a:off x="5076009" y="4072185"/>
            <a:ext cx="627015" cy="596422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8F73290-7D30-46B8-8697-CDD741157ACA}"/>
              </a:ext>
            </a:extLst>
          </p:cNvPr>
          <p:cNvSpPr txBox="1"/>
          <p:nvPr/>
        </p:nvSpPr>
        <p:spPr>
          <a:xfrm>
            <a:off x="7737418" y="4428576"/>
            <a:ext cx="34133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問題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IPS</a:t>
            </a:r>
            <a:r>
              <a:rPr lang="zh-TW" altLang="en-US" dirty="0"/>
              <a:t>設備</a:t>
            </a:r>
            <a:r>
              <a:rPr lang="en-US" altLang="zh-TW" dirty="0"/>
              <a:t>inline</a:t>
            </a:r>
            <a:r>
              <a:rPr lang="zh-TW" altLang="en-US" dirty="0"/>
              <a:t>串接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IPS</a:t>
            </a:r>
            <a:r>
              <a:rPr lang="zh-TW" altLang="en-US" dirty="0"/>
              <a:t>設備當掉或效能變差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如何有效使用</a:t>
            </a:r>
            <a:r>
              <a:rPr lang="en-US" altLang="zh-TW" dirty="0"/>
              <a:t>IPS</a:t>
            </a:r>
            <a:r>
              <a:rPr lang="zh-TW" altLang="en-US" dirty="0"/>
              <a:t>設備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Link down/LAG</a:t>
            </a:r>
          </a:p>
        </p:txBody>
      </p:sp>
    </p:spTree>
    <p:extLst>
      <p:ext uri="{BB962C8B-B14F-4D97-AF65-F5344CB8AC3E}">
        <p14:creationId xmlns:p14="http://schemas.microsoft.com/office/powerpoint/2010/main" val="142494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CECI</a:t>
            </a:r>
            <a:r>
              <a:rPr lang="zh-TW" altLang="en-US" dirty="0"/>
              <a:t>案例探討</a:t>
            </a:r>
          </a:p>
        </p:txBody>
      </p:sp>
      <p:sp>
        <p:nvSpPr>
          <p:cNvPr id="5" name="雲朵形 4">
            <a:extLst>
              <a:ext uri="{FF2B5EF4-FFF2-40B4-BE49-F238E27FC236}">
                <a16:creationId xmlns:a16="http://schemas.microsoft.com/office/drawing/2014/main" id="{D422E2BA-26D1-4C82-B405-48603BF7B6BA}"/>
              </a:ext>
            </a:extLst>
          </p:cNvPr>
          <p:cNvSpPr/>
          <p:nvPr/>
        </p:nvSpPr>
        <p:spPr>
          <a:xfrm>
            <a:off x="8059438" y="2963664"/>
            <a:ext cx="1802674" cy="1140822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04D97B2-BF01-4754-A22D-30507CC50224}"/>
              </a:ext>
            </a:extLst>
          </p:cNvPr>
          <p:cNvSpPr/>
          <p:nvPr/>
        </p:nvSpPr>
        <p:spPr>
          <a:xfrm>
            <a:off x="919100" y="3071313"/>
            <a:ext cx="1410788" cy="9318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LAN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9CCBE6F-C81E-4826-9BED-95774DE17239}"/>
              </a:ext>
            </a:extLst>
          </p:cNvPr>
          <p:cNvCxnSpPr>
            <a:cxnSpLocks/>
            <a:stCxn id="31" idx="1"/>
            <a:endCxn id="5" idx="2"/>
          </p:cNvCxnSpPr>
          <p:nvPr/>
        </p:nvCxnSpPr>
        <p:spPr>
          <a:xfrm>
            <a:off x="7473786" y="3108629"/>
            <a:ext cx="591244" cy="425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5B12F06-2776-4EE6-8E22-D8615433F718}"/>
              </a:ext>
            </a:extLst>
          </p:cNvPr>
          <p:cNvCxnSpPr>
            <a:cxnSpLocks/>
            <a:stCxn id="77" idx="0"/>
            <a:endCxn id="5" idx="2"/>
          </p:cNvCxnSpPr>
          <p:nvPr/>
        </p:nvCxnSpPr>
        <p:spPr>
          <a:xfrm flipV="1">
            <a:off x="7475964" y="3534075"/>
            <a:ext cx="589066" cy="469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八邊形 30">
            <a:extLst>
              <a:ext uri="{FF2B5EF4-FFF2-40B4-BE49-F238E27FC236}">
                <a16:creationId xmlns:a16="http://schemas.microsoft.com/office/drawing/2014/main" id="{65707EE0-7756-4673-A6F7-0216AF6A4515}"/>
              </a:ext>
            </a:extLst>
          </p:cNvPr>
          <p:cNvSpPr/>
          <p:nvPr/>
        </p:nvSpPr>
        <p:spPr>
          <a:xfrm>
            <a:off x="6507135" y="2440006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sp>
        <p:nvSpPr>
          <p:cNvPr id="70" name="八邊形 69">
            <a:extLst>
              <a:ext uri="{FF2B5EF4-FFF2-40B4-BE49-F238E27FC236}">
                <a16:creationId xmlns:a16="http://schemas.microsoft.com/office/drawing/2014/main" id="{C78D1B22-BBCC-4282-8E9B-B284017C7179}"/>
              </a:ext>
            </a:extLst>
          </p:cNvPr>
          <p:cNvSpPr/>
          <p:nvPr/>
        </p:nvSpPr>
        <p:spPr>
          <a:xfrm>
            <a:off x="3026574" y="2443152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6" name="八邊形 75">
            <a:extLst>
              <a:ext uri="{FF2B5EF4-FFF2-40B4-BE49-F238E27FC236}">
                <a16:creationId xmlns:a16="http://schemas.microsoft.com/office/drawing/2014/main" id="{8E648CA4-1D32-4375-869A-18491A6A86B5}"/>
              </a:ext>
            </a:extLst>
          </p:cNvPr>
          <p:cNvSpPr/>
          <p:nvPr/>
        </p:nvSpPr>
        <p:spPr>
          <a:xfrm>
            <a:off x="3026573" y="3726181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7" name="八邊形 76">
            <a:extLst>
              <a:ext uri="{FF2B5EF4-FFF2-40B4-BE49-F238E27FC236}">
                <a16:creationId xmlns:a16="http://schemas.microsoft.com/office/drawing/2014/main" id="{53B3F4BD-E92B-480B-8845-794F2CADB2D0}"/>
              </a:ext>
            </a:extLst>
          </p:cNvPr>
          <p:cNvSpPr/>
          <p:nvPr/>
        </p:nvSpPr>
        <p:spPr>
          <a:xfrm>
            <a:off x="6509313" y="3726181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DAA3D08-3CDD-4A1C-9905-3060F670CC1B}"/>
              </a:ext>
            </a:extLst>
          </p:cNvPr>
          <p:cNvCxnSpPr>
            <a:stCxn id="70" idx="0"/>
            <a:endCxn id="31" idx="5"/>
          </p:cNvCxnSpPr>
          <p:nvPr/>
        </p:nvCxnSpPr>
        <p:spPr>
          <a:xfrm flipV="1">
            <a:off x="3993225" y="2716955"/>
            <a:ext cx="2513910" cy="3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C2DBBD7C-FD1D-49CB-96D6-54DEA4DA0EA9}"/>
              </a:ext>
            </a:extLst>
          </p:cNvPr>
          <p:cNvCxnSpPr>
            <a:stCxn id="70" idx="1"/>
            <a:endCxn id="77" idx="5"/>
          </p:cNvCxnSpPr>
          <p:nvPr/>
        </p:nvCxnSpPr>
        <p:spPr>
          <a:xfrm>
            <a:off x="3993225" y="3111775"/>
            <a:ext cx="2516088" cy="89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1AA65050-0CBD-4900-8FCE-4E6FAEFED196}"/>
              </a:ext>
            </a:extLst>
          </p:cNvPr>
          <p:cNvCxnSpPr>
            <a:stCxn id="76" idx="0"/>
            <a:endCxn id="31" idx="4"/>
          </p:cNvCxnSpPr>
          <p:nvPr/>
        </p:nvCxnSpPr>
        <p:spPr>
          <a:xfrm flipV="1">
            <a:off x="3993224" y="3108629"/>
            <a:ext cx="2513911" cy="894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BEF638AC-7090-4C83-AA99-189D774A9FC0}"/>
              </a:ext>
            </a:extLst>
          </p:cNvPr>
          <p:cNvCxnSpPr>
            <a:stCxn id="76" idx="1"/>
            <a:endCxn id="77" idx="4"/>
          </p:cNvCxnSpPr>
          <p:nvPr/>
        </p:nvCxnSpPr>
        <p:spPr>
          <a:xfrm>
            <a:off x="3993224" y="4394804"/>
            <a:ext cx="25160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960552FC-4270-456F-8B1F-6F42A785AC52}"/>
              </a:ext>
            </a:extLst>
          </p:cNvPr>
          <p:cNvCxnSpPr>
            <a:stCxn id="6" idx="6"/>
            <a:endCxn id="70" idx="4"/>
          </p:cNvCxnSpPr>
          <p:nvPr/>
        </p:nvCxnSpPr>
        <p:spPr>
          <a:xfrm flipV="1">
            <a:off x="2329888" y="3111775"/>
            <a:ext cx="696686" cy="425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EEB1D6F7-1DA6-47A3-BC15-4ADD943B5413}"/>
              </a:ext>
            </a:extLst>
          </p:cNvPr>
          <p:cNvCxnSpPr>
            <a:stCxn id="6" idx="6"/>
            <a:endCxn id="76" idx="5"/>
          </p:cNvCxnSpPr>
          <p:nvPr/>
        </p:nvCxnSpPr>
        <p:spPr>
          <a:xfrm>
            <a:off x="2329888" y="3537222"/>
            <a:ext cx="696685" cy="465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B9E30C3-1C56-49AD-A2D4-7796AE142658}"/>
              </a:ext>
            </a:extLst>
          </p:cNvPr>
          <p:cNvSpPr txBox="1"/>
          <p:nvPr/>
        </p:nvSpPr>
        <p:spPr>
          <a:xfrm>
            <a:off x="4271900" y="1000715"/>
            <a:ext cx="246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With IPS</a:t>
            </a:r>
            <a:r>
              <a:rPr lang="zh-TW" altLang="en-US" sz="2400" dirty="0"/>
              <a:t> </a:t>
            </a:r>
            <a:r>
              <a:rPr lang="en-US" altLang="zh-TW" sz="2400" dirty="0"/>
              <a:t>and </a:t>
            </a:r>
            <a:r>
              <a:rPr lang="en-US" altLang="zh-TW" sz="2400" dirty="0" err="1"/>
              <a:t>SSLi</a:t>
            </a:r>
            <a:endParaRPr lang="zh-TW" altLang="en-US" sz="2400" dirty="0"/>
          </a:p>
        </p:txBody>
      </p: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024BECC0-D4D1-4FA0-90EE-3BA4603E1D81}"/>
              </a:ext>
            </a:extLst>
          </p:cNvPr>
          <p:cNvGrpSpPr/>
          <p:nvPr/>
        </p:nvGrpSpPr>
        <p:grpSpPr>
          <a:xfrm>
            <a:off x="2747900" y="2326277"/>
            <a:ext cx="1524000" cy="2938669"/>
            <a:chOff x="2747900" y="2326277"/>
            <a:chExt cx="1524000" cy="2938669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B184CDB8-6840-4986-ACD3-4A6FC4BE6796}"/>
                </a:ext>
              </a:extLst>
            </p:cNvPr>
            <p:cNvSpPr/>
            <p:nvPr/>
          </p:nvSpPr>
          <p:spPr>
            <a:xfrm>
              <a:off x="2747900" y="2326277"/>
              <a:ext cx="1524000" cy="293866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F6E62350-EBAE-4639-8A32-3AC4E632E355}"/>
                </a:ext>
              </a:extLst>
            </p:cNvPr>
            <p:cNvSpPr txBox="1"/>
            <p:nvPr/>
          </p:nvSpPr>
          <p:spPr>
            <a:xfrm>
              <a:off x="2894111" y="4791010"/>
              <a:ext cx="1338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Core Switch</a:t>
              </a:r>
              <a:endParaRPr lang="zh-TW" altLang="en-US" dirty="0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0B75E101-DB03-40D8-A71F-E1B5ADB17C9E}"/>
              </a:ext>
            </a:extLst>
          </p:cNvPr>
          <p:cNvSpPr/>
          <p:nvPr/>
        </p:nvSpPr>
        <p:spPr>
          <a:xfrm>
            <a:off x="5076010" y="2407921"/>
            <a:ext cx="627015" cy="596422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</a:t>
            </a:r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10B4063-9C9B-4154-A762-AAC571CA5DA3}"/>
              </a:ext>
            </a:extLst>
          </p:cNvPr>
          <p:cNvSpPr/>
          <p:nvPr/>
        </p:nvSpPr>
        <p:spPr>
          <a:xfrm>
            <a:off x="5076009" y="4072185"/>
            <a:ext cx="627015" cy="596422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8F73290-7D30-46B8-8697-CDD741157ACA}"/>
              </a:ext>
            </a:extLst>
          </p:cNvPr>
          <p:cNvSpPr txBox="1"/>
          <p:nvPr/>
        </p:nvSpPr>
        <p:spPr>
          <a:xfrm>
            <a:off x="7737509" y="4428576"/>
            <a:ext cx="35666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問題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IPS/</a:t>
            </a:r>
            <a:r>
              <a:rPr lang="en-US" altLang="zh-TW" dirty="0" err="1"/>
              <a:t>SSLi</a:t>
            </a:r>
            <a:r>
              <a:rPr lang="zh-TW" altLang="en-US" dirty="0"/>
              <a:t>設備</a:t>
            </a:r>
            <a:r>
              <a:rPr lang="en-US" altLang="zh-TW" dirty="0"/>
              <a:t>inline</a:t>
            </a:r>
            <a:r>
              <a:rPr lang="zh-TW" altLang="en-US" dirty="0"/>
              <a:t>串接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IPS/</a:t>
            </a:r>
            <a:r>
              <a:rPr lang="en-US" altLang="zh-TW" dirty="0" err="1"/>
              <a:t>SSLi</a:t>
            </a:r>
            <a:r>
              <a:rPr lang="zh-TW" altLang="en-US" dirty="0"/>
              <a:t>設備當掉或效能變差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如何有效使用</a:t>
            </a:r>
            <a:r>
              <a:rPr lang="en-US" altLang="zh-TW" dirty="0"/>
              <a:t>IPS/</a:t>
            </a:r>
            <a:r>
              <a:rPr lang="en-US" altLang="zh-TW" dirty="0" err="1"/>
              <a:t>SSLi</a:t>
            </a:r>
            <a:r>
              <a:rPr lang="zh-TW" altLang="en-US" dirty="0"/>
              <a:t>設備</a:t>
            </a:r>
            <a:endParaRPr lang="en-US" altLang="zh-TW" dirty="0"/>
          </a:p>
          <a:p>
            <a:pPr marL="342900" indent="-342900">
              <a:buFontTx/>
              <a:buAutoNum type="arabicPeriod"/>
            </a:pPr>
            <a:r>
              <a:rPr lang="en-US" altLang="zh-TW" dirty="0"/>
              <a:t>Link down/LAG</a:t>
            </a:r>
          </a:p>
          <a:p>
            <a:pPr marL="342900" indent="-342900">
              <a:buAutoNum type="arabicPeriod"/>
            </a:pPr>
            <a:r>
              <a:rPr lang="en-US" altLang="zh-TW" dirty="0" err="1"/>
              <a:t>SSLi</a:t>
            </a:r>
            <a:r>
              <a:rPr lang="zh-TW" altLang="en-US" dirty="0"/>
              <a:t>只需要</a:t>
            </a:r>
            <a:r>
              <a:rPr lang="en-US" altLang="zh-TW" dirty="0"/>
              <a:t>443</a:t>
            </a:r>
            <a:r>
              <a:rPr lang="zh-TW" altLang="en-US" dirty="0"/>
              <a:t>流量</a:t>
            </a:r>
            <a:endParaRPr lang="en-US" altLang="zh-TW" dirty="0"/>
          </a:p>
        </p:txBody>
      </p:sp>
      <p:sp>
        <p:nvSpPr>
          <p:cNvPr id="3" name="手繪多邊形: 圖案 2">
            <a:extLst>
              <a:ext uri="{FF2B5EF4-FFF2-40B4-BE49-F238E27FC236}">
                <a16:creationId xmlns:a16="http://schemas.microsoft.com/office/drawing/2014/main" id="{5F054BEF-0628-442C-9E08-5F3F53244AB7}"/>
              </a:ext>
            </a:extLst>
          </p:cNvPr>
          <p:cNvSpPr/>
          <p:nvPr/>
        </p:nvSpPr>
        <p:spPr>
          <a:xfrm>
            <a:off x="4576699" y="1732376"/>
            <a:ext cx="1707502" cy="1212980"/>
          </a:xfrm>
          <a:custGeom>
            <a:avLst/>
            <a:gdLst>
              <a:gd name="connsiteX0" fmla="*/ 317240 w 1707502"/>
              <a:gd name="connsiteY0" fmla="*/ 1212980 h 1212980"/>
              <a:gd name="connsiteX1" fmla="*/ 0 w 1707502"/>
              <a:gd name="connsiteY1" fmla="*/ 1212980 h 1212980"/>
              <a:gd name="connsiteX2" fmla="*/ 18661 w 1707502"/>
              <a:gd name="connsiteY2" fmla="*/ 0 h 1212980"/>
              <a:gd name="connsiteX3" fmla="*/ 1707502 w 1707502"/>
              <a:gd name="connsiteY3" fmla="*/ 0 h 1212980"/>
              <a:gd name="connsiteX4" fmla="*/ 1707502 w 1707502"/>
              <a:gd name="connsiteY4" fmla="*/ 1203649 h 1212980"/>
              <a:gd name="connsiteX5" fmla="*/ 1343608 w 1707502"/>
              <a:gd name="connsiteY5" fmla="*/ 1194318 h 1212980"/>
              <a:gd name="connsiteX6" fmla="*/ 1343608 w 1707502"/>
              <a:gd name="connsiteY6" fmla="*/ 541176 h 1212980"/>
              <a:gd name="connsiteX7" fmla="*/ 335902 w 1707502"/>
              <a:gd name="connsiteY7" fmla="*/ 541176 h 1212980"/>
              <a:gd name="connsiteX8" fmla="*/ 317240 w 1707502"/>
              <a:gd name="connsiteY8" fmla="*/ 1212980 h 12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7502" h="1212980">
                <a:moveTo>
                  <a:pt x="317240" y="1212980"/>
                </a:moveTo>
                <a:lnTo>
                  <a:pt x="0" y="1212980"/>
                </a:lnTo>
                <a:lnTo>
                  <a:pt x="18661" y="0"/>
                </a:lnTo>
                <a:lnTo>
                  <a:pt x="1707502" y="0"/>
                </a:lnTo>
                <a:lnTo>
                  <a:pt x="1707502" y="1203649"/>
                </a:lnTo>
                <a:lnTo>
                  <a:pt x="1343608" y="1194318"/>
                </a:lnTo>
                <a:lnTo>
                  <a:pt x="1343608" y="541176"/>
                </a:lnTo>
                <a:lnTo>
                  <a:pt x="335902" y="541176"/>
                </a:lnTo>
                <a:lnTo>
                  <a:pt x="317240" y="121298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dirty="0"/>
              <a:t>Array</a:t>
            </a:r>
            <a:endParaRPr lang="zh-TW" altLang="en-US" dirty="0"/>
          </a:p>
        </p:txBody>
      </p:sp>
      <p:sp>
        <p:nvSpPr>
          <p:cNvPr id="25" name="手繪多邊形: 圖案 24">
            <a:extLst>
              <a:ext uri="{FF2B5EF4-FFF2-40B4-BE49-F238E27FC236}">
                <a16:creationId xmlns:a16="http://schemas.microsoft.com/office/drawing/2014/main" id="{C3520FD9-EB33-46DD-B3B7-FAABD9B99A9B}"/>
              </a:ext>
            </a:extLst>
          </p:cNvPr>
          <p:cNvSpPr/>
          <p:nvPr/>
        </p:nvSpPr>
        <p:spPr>
          <a:xfrm rot="10800000">
            <a:off x="4574704" y="4131172"/>
            <a:ext cx="1707502" cy="1212980"/>
          </a:xfrm>
          <a:custGeom>
            <a:avLst/>
            <a:gdLst>
              <a:gd name="connsiteX0" fmla="*/ 317240 w 1707502"/>
              <a:gd name="connsiteY0" fmla="*/ 1212980 h 1212980"/>
              <a:gd name="connsiteX1" fmla="*/ 0 w 1707502"/>
              <a:gd name="connsiteY1" fmla="*/ 1212980 h 1212980"/>
              <a:gd name="connsiteX2" fmla="*/ 18661 w 1707502"/>
              <a:gd name="connsiteY2" fmla="*/ 0 h 1212980"/>
              <a:gd name="connsiteX3" fmla="*/ 1707502 w 1707502"/>
              <a:gd name="connsiteY3" fmla="*/ 0 h 1212980"/>
              <a:gd name="connsiteX4" fmla="*/ 1707502 w 1707502"/>
              <a:gd name="connsiteY4" fmla="*/ 1203649 h 1212980"/>
              <a:gd name="connsiteX5" fmla="*/ 1343608 w 1707502"/>
              <a:gd name="connsiteY5" fmla="*/ 1194318 h 1212980"/>
              <a:gd name="connsiteX6" fmla="*/ 1343608 w 1707502"/>
              <a:gd name="connsiteY6" fmla="*/ 541176 h 1212980"/>
              <a:gd name="connsiteX7" fmla="*/ 335902 w 1707502"/>
              <a:gd name="connsiteY7" fmla="*/ 541176 h 1212980"/>
              <a:gd name="connsiteX8" fmla="*/ 317240 w 1707502"/>
              <a:gd name="connsiteY8" fmla="*/ 1212980 h 12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7502" h="1212980">
                <a:moveTo>
                  <a:pt x="317240" y="1212980"/>
                </a:moveTo>
                <a:lnTo>
                  <a:pt x="0" y="1212980"/>
                </a:lnTo>
                <a:lnTo>
                  <a:pt x="18661" y="0"/>
                </a:lnTo>
                <a:lnTo>
                  <a:pt x="1707502" y="0"/>
                </a:lnTo>
                <a:lnTo>
                  <a:pt x="1707502" y="1203649"/>
                </a:lnTo>
                <a:lnTo>
                  <a:pt x="1343608" y="1194318"/>
                </a:lnTo>
                <a:lnTo>
                  <a:pt x="1343608" y="541176"/>
                </a:lnTo>
                <a:lnTo>
                  <a:pt x="335902" y="541176"/>
                </a:lnTo>
                <a:lnTo>
                  <a:pt x="317240" y="121298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890EDE8-6E1D-43F4-9EF4-EC2C570ECAF9}"/>
              </a:ext>
            </a:extLst>
          </p:cNvPr>
          <p:cNvSpPr txBox="1"/>
          <p:nvPr/>
        </p:nvSpPr>
        <p:spPr>
          <a:xfrm>
            <a:off x="5137574" y="4937454"/>
            <a:ext cx="68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Array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1267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CECI</a:t>
            </a:r>
            <a:r>
              <a:rPr lang="zh-TW" altLang="en-US" dirty="0"/>
              <a:t>案例探討</a:t>
            </a:r>
          </a:p>
        </p:txBody>
      </p:sp>
      <p:sp>
        <p:nvSpPr>
          <p:cNvPr id="5" name="雲朵形 4">
            <a:extLst>
              <a:ext uri="{FF2B5EF4-FFF2-40B4-BE49-F238E27FC236}">
                <a16:creationId xmlns:a16="http://schemas.microsoft.com/office/drawing/2014/main" id="{D422E2BA-26D1-4C82-B405-48603BF7B6BA}"/>
              </a:ext>
            </a:extLst>
          </p:cNvPr>
          <p:cNvSpPr/>
          <p:nvPr/>
        </p:nvSpPr>
        <p:spPr>
          <a:xfrm>
            <a:off x="8777943" y="2963664"/>
            <a:ext cx="1802674" cy="1140822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04D97B2-BF01-4754-A22D-30507CC50224}"/>
              </a:ext>
            </a:extLst>
          </p:cNvPr>
          <p:cNvSpPr/>
          <p:nvPr/>
        </p:nvSpPr>
        <p:spPr>
          <a:xfrm>
            <a:off x="919100" y="3071313"/>
            <a:ext cx="1410788" cy="9318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LAN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9CCBE6F-C81E-4826-9BED-95774DE17239}"/>
              </a:ext>
            </a:extLst>
          </p:cNvPr>
          <p:cNvCxnSpPr>
            <a:cxnSpLocks/>
            <a:stCxn id="31" idx="1"/>
            <a:endCxn id="5" idx="2"/>
          </p:cNvCxnSpPr>
          <p:nvPr/>
        </p:nvCxnSpPr>
        <p:spPr>
          <a:xfrm>
            <a:off x="8192291" y="3108629"/>
            <a:ext cx="591244" cy="425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5B12F06-2776-4EE6-8E22-D8615433F718}"/>
              </a:ext>
            </a:extLst>
          </p:cNvPr>
          <p:cNvCxnSpPr>
            <a:cxnSpLocks/>
            <a:stCxn id="77" idx="0"/>
            <a:endCxn id="5" idx="2"/>
          </p:cNvCxnSpPr>
          <p:nvPr/>
        </p:nvCxnSpPr>
        <p:spPr>
          <a:xfrm flipV="1">
            <a:off x="8194469" y="3534075"/>
            <a:ext cx="589066" cy="469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八邊形 30">
            <a:extLst>
              <a:ext uri="{FF2B5EF4-FFF2-40B4-BE49-F238E27FC236}">
                <a16:creationId xmlns:a16="http://schemas.microsoft.com/office/drawing/2014/main" id="{65707EE0-7756-4673-A6F7-0216AF6A4515}"/>
              </a:ext>
            </a:extLst>
          </p:cNvPr>
          <p:cNvSpPr/>
          <p:nvPr/>
        </p:nvSpPr>
        <p:spPr>
          <a:xfrm>
            <a:off x="7225640" y="2440006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sp>
        <p:nvSpPr>
          <p:cNvPr id="70" name="八邊形 69">
            <a:extLst>
              <a:ext uri="{FF2B5EF4-FFF2-40B4-BE49-F238E27FC236}">
                <a16:creationId xmlns:a16="http://schemas.microsoft.com/office/drawing/2014/main" id="{C78D1B22-BBCC-4282-8E9B-B284017C7179}"/>
              </a:ext>
            </a:extLst>
          </p:cNvPr>
          <p:cNvSpPr/>
          <p:nvPr/>
        </p:nvSpPr>
        <p:spPr>
          <a:xfrm>
            <a:off x="3026574" y="2443152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6" name="八邊形 75">
            <a:extLst>
              <a:ext uri="{FF2B5EF4-FFF2-40B4-BE49-F238E27FC236}">
                <a16:creationId xmlns:a16="http://schemas.microsoft.com/office/drawing/2014/main" id="{8E648CA4-1D32-4375-869A-18491A6A86B5}"/>
              </a:ext>
            </a:extLst>
          </p:cNvPr>
          <p:cNvSpPr/>
          <p:nvPr/>
        </p:nvSpPr>
        <p:spPr>
          <a:xfrm>
            <a:off x="3026573" y="3726181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7" name="八邊形 76">
            <a:extLst>
              <a:ext uri="{FF2B5EF4-FFF2-40B4-BE49-F238E27FC236}">
                <a16:creationId xmlns:a16="http://schemas.microsoft.com/office/drawing/2014/main" id="{53B3F4BD-E92B-480B-8845-794F2CADB2D0}"/>
              </a:ext>
            </a:extLst>
          </p:cNvPr>
          <p:cNvSpPr/>
          <p:nvPr/>
        </p:nvSpPr>
        <p:spPr>
          <a:xfrm>
            <a:off x="7227818" y="3726181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DAA3D08-3CDD-4A1C-9905-3060F670CC1B}"/>
              </a:ext>
            </a:extLst>
          </p:cNvPr>
          <p:cNvCxnSpPr>
            <a:cxnSpLocks/>
            <a:stCxn id="70" idx="0"/>
            <a:endCxn id="31" idx="5"/>
          </p:cNvCxnSpPr>
          <p:nvPr/>
        </p:nvCxnSpPr>
        <p:spPr>
          <a:xfrm flipV="1">
            <a:off x="3993225" y="2716955"/>
            <a:ext cx="3232415" cy="3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C2DBBD7C-FD1D-49CB-96D6-54DEA4DA0EA9}"/>
              </a:ext>
            </a:extLst>
          </p:cNvPr>
          <p:cNvCxnSpPr>
            <a:cxnSpLocks/>
            <a:stCxn id="70" idx="1"/>
            <a:endCxn id="77" idx="5"/>
          </p:cNvCxnSpPr>
          <p:nvPr/>
        </p:nvCxnSpPr>
        <p:spPr>
          <a:xfrm>
            <a:off x="3993225" y="3111775"/>
            <a:ext cx="3234593" cy="89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1AA65050-0CBD-4900-8FCE-4E6FAEFED196}"/>
              </a:ext>
            </a:extLst>
          </p:cNvPr>
          <p:cNvCxnSpPr>
            <a:cxnSpLocks/>
            <a:stCxn id="76" idx="0"/>
            <a:endCxn id="31" idx="4"/>
          </p:cNvCxnSpPr>
          <p:nvPr/>
        </p:nvCxnSpPr>
        <p:spPr>
          <a:xfrm flipV="1">
            <a:off x="3993224" y="3108629"/>
            <a:ext cx="3232416" cy="894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BEF638AC-7090-4C83-AA99-189D774A9FC0}"/>
              </a:ext>
            </a:extLst>
          </p:cNvPr>
          <p:cNvCxnSpPr>
            <a:cxnSpLocks/>
            <a:stCxn id="76" idx="1"/>
            <a:endCxn id="77" idx="4"/>
          </p:cNvCxnSpPr>
          <p:nvPr/>
        </p:nvCxnSpPr>
        <p:spPr>
          <a:xfrm>
            <a:off x="3993224" y="4394804"/>
            <a:ext cx="32345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960552FC-4270-456F-8B1F-6F42A785AC52}"/>
              </a:ext>
            </a:extLst>
          </p:cNvPr>
          <p:cNvCxnSpPr>
            <a:stCxn id="6" idx="6"/>
            <a:endCxn id="70" idx="4"/>
          </p:cNvCxnSpPr>
          <p:nvPr/>
        </p:nvCxnSpPr>
        <p:spPr>
          <a:xfrm flipV="1">
            <a:off x="2329888" y="3111775"/>
            <a:ext cx="696686" cy="425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EEB1D6F7-1DA6-47A3-BC15-4ADD943B5413}"/>
              </a:ext>
            </a:extLst>
          </p:cNvPr>
          <p:cNvCxnSpPr>
            <a:stCxn id="6" idx="6"/>
            <a:endCxn id="76" idx="5"/>
          </p:cNvCxnSpPr>
          <p:nvPr/>
        </p:nvCxnSpPr>
        <p:spPr>
          <a:xfrm>
            <a:off x="2329888" y="3537222"/>
            <a:ext cx="696685" cy="465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B9E30C3-1C56-49AD-A2D4-7796AE142658}"/>
              </a:ext>
            </a:extLst>
          </p:cNvPr>
          <p:cNvSpPr txBox="1"/>
          <p:nvPr/>
        </p:nvSpPr>
        <p:spPr>
          <a:xfrm>
            <a:off x="4271899" y="1000715"/>
            <a:ext cx="245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Service Chain</a:t>
            </a:r>
            <a:endParaRPr lang="zh-TW" altLang="en-US" sz="2400" dirty="0"/>
          </a:p>
        </p:txBody>
      </p: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024BECC0-D4D1-4FA0-90EE-3BA4603E1D81}"/>
              </a:ext>
            </a:extLst>
          </p:cNvPr>
          <p:cNvGrpSpPr/>
          <p:nvPr/>
        </p:nvGrpSpPr>
        <p:grpSpPr>
          <a:xfrm>
            <a:off x="2747900" y="2326277"/>
            <a:ext cx="1524000" cy="2938669"/>
            <a:chOff x="2747900" y="2326277"/>
            <a:chExt cx="1524000" cy="2938669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B184CDB8-6840-4986-ACD3-4A6FC4BE6796}"/>
                </a:ext>
              </a:extLst>
            </p:cNvPr>
            <p:cNvSpPr/>
            <p:nvPr/>
          </p:nvSpPr>
          <p:spPr>
            <a:xfrm>
              <a:off x="2747900" y="2326277"/>
              <a:ext cx="1524000" cy="293866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F6E62350-EBAE-4639-8A32-3AC4E632E355}"/>
                </a:ext>
              </a:extLst>
            </p:cNvPr>
            <p:cNvSpPr txBox="1"/>
            <p:nvPr/>
          </p:nvSpPr>
          <p:spPr>
            <a:xfrm>
              <a:off x="2894111" y="4791010"/>
              <a:ext cx="1338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Core Switch</a:t>
              </a:r>
              <a:endParaRPr lang="zh-TW" altLang="en-US" dirty="0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0B75E101-DB03-40D8-A71F-E1B5ADB17C9E}"/>
              </a:ext>
            </a:extLst>
          </p:cNvPr>
          <p:cNvSpPr/>
          <p:nvPr/>
        </p:nvSpPr>
        <p:spPr>
          <a:xfrm>
            <a:off x="5057508" y="5787564"/>
            <a:ext cx="1422400" cy="395619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</a:t>
            </a:r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10B4063-9C9B-4154-A762-AAC571CA5DA3}"/>
              </a:ext>
            </a:extLst>
          </p:cNvPr>
          <p:cNvSpPr/>
          <p:nvPr/>
        </p:nvSpPr>
        <p:spPr>
          <a:xfrm>
            <a:off x="5057508" y="6311009"/>
            <a:ext cx="1422400" cy="395619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546E36-E76C-45FA-B02F-56B6229C552F}"/>
              </a:ext>
            </a:extLst>
          </p:cNvPr>
          <p:cNvSpPr/>
          <p:nvPr/>
        </p:nvSpPr>
        <p:spPr>
          <a:xfrm>
            <a:off x="5057508" y="2440006"/>
            <a:ext cx="1422400" cy="2172103"/>
          </a:xfrm>
          <a:custGeom>
            <a:avLst/>
            <a:gdLst>
              <a:gd name="connsiteX0" fmla="*/ 0 w 1422400"/>
              <a:gd name="connsiteY0" fmla="*/ 0 h 2592856"/>
              <a:gd name="connsiteX1" fmla="*/ 1422400 w 1422400"/>
              <a:gd name="connsiteY1" fmla="*/ 0 h 2592856"/>
              <a:gd name="connsiteX2" fmla="*/ 1422400 w 1422400"/>
              <a:gd name="connsiteY2" fmla="*/ 2592856 h 2592856"/>
              <a:gd name="connsiteX3" fmla="*/ 0 w 1422400"/>
              <a:gd name="connsiteY3" fmla="*/ 2592856 h 2592856"/>
              <a:gd name="connsiteX4" fmla="*/ 0 w 1422400"/>
              <a:gd name="connsiteY4" fmla="*/ 0 h 2592856"/>
              <a:gd name="connsiteX0" fmla="*/ 0 w 1422400"/>
              <a:gd name="connsiteY0" fmla="*/ 0 h 2592856"/>
              <a:gd name="connsiteX1" fmla="*/ 1422400 w 1422400"/>
              <a:gd name="connsiteY1" fmla="*/ 0 h 2592856"/>
              <a:gd name="connsiteX2" fmla="*/ 1422400 w 1422400"/>
              <a:gd name="connsiteY2" fmla="*/ 2592856 h 2592856"/>
              <a:gd name="connsiteX3" fmla="*/ 0 w 1422400"/>
              <a:gd name="connsiteY3" fmla="*/ 2592856 h 2592856"/>
              <a:gd name="connsiteX4" fmla="*/ 1039 w 1422400"/>
              <a:gd name="connsiteY4" fmla="*/ 1597137 h 2592856"/>
              <a:gd name="connsiteX5" fmla="*/ 0 w 1422400"/>
              <a:gd name="connsiteY5" fmla="*/ 0 h 2592856"/>
              <a:gd name="connsiteX0" fmla="*/ 0 w 1422400"/>
              <a:gd name="connsiteY0" fmla="*/ 0 h 2592856"/>
              <a:gd name="connsiteX1" fmla="*/ 1422400 w 1422400"/>
              <a:gd name="connsiteY1" fmla="*/ 0 h 2592856"/>
              <a:gd name="connsiteX2" fmla="*/ 1422400 w 1422400"/>
              <a:gd name="connsiteY2" fmla="*/ 2592856 h 2592856"/>
              <a:gd name="connsiteX3" fmla="*/ 0 w 1422400"/>
              <a:gd name="connsiteY3" fmla="*/ 2592856 h 2592856"/>
              <a:gd name="connsiteX4" fmla="*/ 1039 w 1422400"/>
              <a:gd name="connsiteY4" fmla="*/ 1756625 h 2592856"/>
              <a:gd name="connsiteX5" fmla="*/ 0 w 1422400"/>
              <a:gd name="connsiteY5" fmla="*/ 0 h 2592856"/>
              <a:gd name="connsiteX0" fmla="*/ 0 w 1422400"/>
              <a:gd name="connsiteY0" fmla="*/ 0 h 2592856"/>
              <a:gd name="connsiteX1" fmla="*/ 1422400 w 1422400"/>
              <a:gd name="connsiteY1" fmla="*/ 0 h 2592856"/>
              <a:gd name="connsiteX2" fmla="*/ 1415169 w 1422400"/>
              <a:gd name="connsiteY2" fmla="*/ 1767258 h 2592856"/>
              <a:gd name="connsiteX3" fmla="*/ 1422400 w 1422400"/>
              <a:gd name="connsiteY3" fmla="*/ 2592856 h 2592856"/>
              <a:gd name="connsiteX4" fmla="*/ 0 w 1422400"/>
              <a:gd name="connsiteY4" fmla="*/ 2592856 h 2592856"/>
              <a:gd name="connsiteX5" fmla="*/ 1039 w 1422400"/>
              <a:gd name="connsiteY5" fmla="*/ 1756625 h 2592856"/>
              <a:gd name="connsiteX6" fmla="*/ 0 w 1422400"/>
              <a:gd name="connsiteY6" fmla="*/ 0 h 259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2400" h="2592856">
                <a:moveTo>
                  <a:pt x="0" y="0"/>
                </a:moveTo>
                <a:lnTo>
                  <a:pt x="1422400" y="0"/>
                </a:lnTo>
                <a:cubicBezTo>
                  <a:pt x="1419990" y="589086"/>
                  <a:pt x="1417579" y="1178172"/>
                  <a:pt x="1415169" y="1767258"/>
                </a:cubicBezTo>
                <a:cubicBezTo>
                  <a:pt x="1417579" y="2042457"/>
                  <a:pt x="1419990" y="2317657"/>
                  <a:pt x="1422400" y="2592856"/>
                </a:cubicBezTo>
                <a:lnTo>
                  <a:pt x="0" y="2592856"/>
                </a:lnTo>
                <a:cubicBezTo>
                  <a:pt x="346" y="2260950"/>
                  <a:pt x="693" y="2088531"/>
                  <a:pt x="1039" y="1756625"/>
                </a:cubicBezTo>
                <a:cubicBezTo>
                  <a:pt x="693" y="1224246"/>
                  <a:pt x="346" y="532379"/>
                  <a:pt x="0" y="0"/>
                </a:cubicBez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PacketX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9DB2CB-18B1-4973-8DA9-EF592A5D57D4}"/>
              </a:ext>
            </a:extLst>
          </p:cNvPr>
          <p:cNvSpPr/>
          <p:nvPr/>
        </p:nvSpPr>
        <p:spPr>
          <a:xfrm>
            <a:off x="5057508" y="4742328"/>
            <a:ext cx="1422400" cy="3956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Array</a:t>
            </a:r>
            <a:endParaRPr lang="zh-TW" altLang="en-US" dirty="0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886EC8A7-DC08-4AC5-930B-0B31451528EC}"/>
              </a:ext>
            </a:extLst>
          </p:cNvPr>
          <p:cNvCxnSpPr/>
          <p:nvPr/>
        </p:nvCxnSpPr>
        <p:spPr>
          <a:xfrm>
            <a:off x="5605838" y="4794155"/>
            <a:ext cx="0" cy="14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2A9471BC-B612-447C-B0CC-0CA759D29C4E}"/>
              </a:ext>
            </a:extLst>
          </p:cNvPr>
          <p:cNvSpPr/>
          <p:nvPr/>
        </p:nvSpPr>
        <p:spPr>
          <a:xfrm>
            <a:off x="5057508" y="5264946"/>
            <a:ext cx="1422400" cy="3956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Array</a:t>
            </a:r>
            <a:endParaRPr lang="zh-TW" altLang="en-US" dirty="0"/>
          </a:p>
        </p:txBody>
      </p:sp>
      <p:sp>
        <p:nvSpPr>
          <p:cNvPr id="119" name="左中括弧 118">
            <a:extLst>
              <a:ext uri="{FF2B5EF4-FFF2-40B4-BE49-F238E27FC236}">
                <a16:creationId xmlns:a16="http://schemas.microsoft.com/office/drawing/2014/main" id="{5551476E-AF99-4645-9E75-F6A1E5E93828}"/>
              </a:ext>
            </a:extLst>
          </p:cNvPr>
          <p:cNvSpPr/>
          <p:nvPr/>
        </p:nvSpPr>
        <p:spPr>
          <a:xfrm>
            <a:off x="5011789" y="4536717"/>
            <a:ext cx="45719" cy="34919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左中括弧 119">
            <a:extLst>
              <a:ext uri="{FF2B5EF4-FFF2-40B4-BE49-F238E27FC236}">
                <a16:creationId xmlns:a16="http://schemas.microsoft.com/office/drawing/2014/main" id="{2A714337-F471-46CA-B51C-7BC1F85826E3}"/>
              </a:ext>
            </a:extLst>
          </p:cNvPr>
          <p:cNvSpPr/>
          <p:nvPr/>
        </p:nvSpPr>
        <p:spPr>
          <a:xfrm>
            <a:off x="4930892" y="4316819"/>
            <a:ext cx="126615" cy="73364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右中括弧 120">
            <a:extLst>
              <a:ext uri="{FF2B5EF4-FFF2-40B4-BE49-F238E27FC236}">
                <a16:creationId xmlns:a16="http://schemas.microsoft.com/office/drawing/2014/main" id="{3DDD72A2-38A1-4DD0-BCC2-F66C45B038E8}"/>
              </a:ext>
            </a:extLst>
          </p:cNvPr>
          <p:cNvSpPr/>
          <p:nvPr/>
        </p:nvSpPr>
        <p:spPr>
          <a:xfrm>
            <a:off x="6479908" y="4536717"/>
            <a:ext cx="45719" cy="349194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右中括弧 121">
            <a:extLst>
              <a:ext uri="{FF2B5EF4-FFF2-40B4-BE49-F238E27FC236}">
                <a16:creationId xmlns:a16="http://schemas.microsoft.com/office/drawing/2014/main" id="{FA969753-7525-4716-9B2C-D3FF5BA9C721}"/>
              </a:ext>
            </a:extLst>
          </p:cNvPr>
          <p:cNvSpPr/>
          <p:nvPr/>
        </p:nvSpPr>
        <p:spPr>
          <a:xfrm>
            <a:off x="6479908" y="4316819"/>
            <a:ext cx="135536" cy="73364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左中括弧 122">
            <a:extLst>
              <a:ext uri="{FF2B5EF4-FFF2-40B4-BE49-F238E27FC236}">
                <a16:creationId xmlns:a16="http://schemas.microsoft.com/office/drawing/2014/main" id="{FACDDCF1-4C5C-42F2-9A83-8C83DCF6C530}"/>
              </a:ext>
            </a:extLst>
          </p:cNvPr>
          <p:cNvSpPr/>
          <p:nvPr/>
        </p:nvSpPr>
        <p:spPr>
          <a:xfrm>
            <a:off x="4837272" y="4210492"/>
            <a:ext cx="220235" cy="1158949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左中括弧 123">
            <a:extLst>
              <a:ext uri="{FF2B5EF4-FFF2-40B4-BE49-F238E27FC236}">
                <a16:creationId xmlns:a16="http://schemas.microsoft.com/office/drawing/2014/main" id="{C98C7906-0F7A-4EA5-A533-353F315CB6AE}"/>
              </a:ext>
            </a:extLst>
          </p:cNvPr>
          <p:cNvSpPr/>
          <p:nvPr/>
        </p:nvSpPr>
        <p:spPr>
          <a:xfrm>
            <a:off x="4731769" y="4104486"/>
            <a:ext cx="325738" cy="1435077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右中括弧 124">
            <a:extLst>
              <a:ext uri="{FF2B5EF4-FFF2-40B4-BE49-F238E27FC236}">
                <a16:creationId xmlns:a16="http://schemas.microsoft.com/office/drawing/2014/main" id="{23368C2D-F0C3-4216-A237-07B23C84B9F1}"/>
              </a:ext>
            </a:extLst>
          </p:cNvPr>
          <p:cNvSpPr/>
          <p:nvPr/>
        </p:nvSpPr>
        <p:spPr>
          <a:xfrm>
            <a:off x="6479908" y="4210492"/>
            <a:ext cx="243900" cy="1129127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右中括弧 125">
            <a:extLst>
              <a:ext uri="{FF2B5EF4-FFF2-40B4-BE49-F238E27FC236}">
                <a16:creationId xmlns:a16="http://schemas.microsoft.com/office/drawing/2014/main" id="{45D22EF6-D2FB-429F-B3B1-D8BB701ACBC6}"/>
              </a:ext>
            </a:extLst>
          </p:cNvPr>
          <p:cNvSpPr/>
          <p:nvPr/>
        </p:nvSpPr>
        <p:spPr>
          <a:xfrm>
            <a:off x="6479907" y="4104486"/>
            <a:ext cx="348627" cy="1435077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左中括弧 126">
            <a:extLst>
              <a:ext uri="{FF2B5EF4-FFF2-40B4-BE49-F238E27FC236}">
                <a16:creationId xmlns:a16="http://schemas.microsoft.com/office/drawing/2014/main" id="{06DB6807-1ED2-4B83-8A86-00D2A37AF658}"/>
              </a:ext>
            </a:extLst>
          </p:cNvPr>
          <p:cNvSpPr/>
          <p:nvPr/>
        </p:nvSpPr>
        <p:spPr>
          <a:xfrm>
            <a:off x="4593776" y="4003130"/>
            <a:ext cx="463731" cy="196173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右中括弧 127">
            <a:extLst>
              <a:ext uri="{FF2B5EF4-FFF2-40B4-BE49-F238E27FC236}">
                <a16:creationId xmlns:a16="http://schemas.microsoft.com/office/drawing/2014/main" id="{F209767D-A491-4842-9ECD-4E882E059A4C}"/>
              </a:ext>
            </a:extLst>
          </p:cNvPr>
          <p:cNvSpPr/>
          <p:nvPr/>
        </p:nvSpPr>
        <p:spPr>
          <a:xfrm>
            <a:off x="6477729" y="4003130"/>
            <a:ext cx="444260" cy="1961735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左中括弧 132">
            <a:extLst>
              <a:ext uri="{FF2B5EF4-FFF2-40B4-BE49-F238E27FC236}">
                <a16:creationId xmlns:a16="http://schemas.microsoft.com/office/drawing/2014/main" id="{F17B86E9-90FD-4E12-BBAF-61096834D7A3}"/>
              </a:ext>
            </a:extLst>
          </p:cNvPr>
          <p:cNvSpPr/>
          <p:nvPr/>
        </p:nvSpPr>
        <p:spPr>
          <a:xfrm>
            <a:off x="4446794" y="3880884"/>
            <a:ext cx="610713" cy="261199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右中括弧 134">
            <a:extLst>
              <a:ext uri="{FF2B5EF4-FFF2-40B4-BE49-F238E27FC236}">
                <a16:creationId xmlns:a16="http://schemas.microsoft.com/office/drawing/2014/main" id="{7DA546B9-07A5-4BDC-B9E3-64C9EBF1DB44}"/>
              </a:ext>
            </a:extLst>
          </p:cNvPr>
          <p:cNvSpPr/>
          <p:nvPr/>
        </p:nvSpPr>
        <p:spPr>
          <a:xfrm>
            <a:off x="6477729" y="3880884"/>
            <a:ext cx="585653" cy="263190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2B78A685-32C5-4A4D-B74C-43CAFAD88326}"/>
              </a:ext>
            </a:extLst>
          </p:cNvPr>
          <p:cNvSpPr txBox="1"/>
          <p:nvPr/>
        </p:nvSpPr>
        <p:spPr>
          <a:xfrm>
            <a:off x="7351798" y="4822024"/>
            <a:ext cx="45640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92D050"/>
                </a:solidFill>
              </a:rPr>
              <a:t>Solution</a:t>
            </a:r>
          </a:p>
          <a:p>
            <a:pPr marL="342900" indent="-342900">
              <a:buAutoNum type="arabicPeriod"/>
            </a:pPr>
            <a:r>
              <a:rPr lang="en-US" altLang="zh-TW" dirty="0"/>
              <a:t>IPS/</a:t>
            </a:r>
            <a:r>
              <a:rPr lang="en-US" altLang="zh-TW" dirty="0" err="1"/>
              <a:t>SSLi</a:t>
            </a:r>
            <a:r>
              <a:rPr lang="zh-TW" altLang="en-US" dirty="0"/>
              <a:t>設備</a:t>
            </a:r>
            <a:r>
              <a:rPr lang="en-US" altLang="zh-TW" dirty="0"/>
              <a:t>inline</a:t>
            </a:r>
            <a:r>
              <a:rPr lang="zh-TW" altLang="en-US" dirty="0"/>
              <a:t>串接 </a:t>
            </a:r>
            <a:r>
              <a:rPr lang="en-US" altLang="zh-TW" dirty="0"/>
              <a:t>-&gt; </a:t>
            </a:r>
            <a:r>
              <a:rPr lang="zh-TW" altLang="en-US" dirty="0">
                <a:solidFill>
                  <a:srgbClr val="92D050"/>
                </a:solidFill>
              </a:rPr>
              <a:t>都接到</a:t>
            </a:r>
            <a:r>
              <a:rPr lang="en-US" altLang="zh-TW" dirty="0">
                <a:solidFill>
                  <a:srgbClr val="92D050"/>
                </a:solidFill>
              </a:rPr>
              <a:t> </a:t>
            </a:r>
            <a:r>
              <a:rPr lang="en-US" altLang="zh-TW" dirty="0" err="1">
                <a:solidFill>
                  <a:srgbClr val="92D050"/>
                </a:solidFill>
              </a:rPr>
              <a:t>PacketX</a:t>
            </a:r>
            <a:endParaRPr lang="en-US" altLang="zh-TW" strike="sngStrike" dirty="0"/>
          </a:p>
          <a:p>
            <a:pPr marL="342900" indent="-342900">
              <a:buAutoNum type="arabicPeriod"/>
            </a:pPr>
            <a:r>
              <a:rPr lang="en-US" altLang="zh-TW" dirty="0"/>
              <a:t>IPS/</a:t>
            </a:r>
            <a:r>
              <a:rPr lang="en-US" altLang="zh-TW" dirty="0" err="1"/>
              <a:t>SSLi</a:t>
            </a:r>
            <a:r>
              <a:rPr lang="zh-TW" altLang="en-US" dirty="0"/>
              <a:t>設備當掉或效能變差</a:t>
            </a:r>
            <a:r>
              <a:rPr lang="en-US" altLang="zh-TW" dirty="0"/>
              <a:t> -&gt; </a:t>
            </a:r>
            <a:r>
              <a:rPr lang="en-US" altLang="zh-TW" dirty="0">
                <a:solidFill>
                  <a:srgbClr val="92D050"/>
                </a:solidFill>
              </a:rPr>
              <a:t>Bypass</a:t>
            </a:r>
          </a:p>
          <a:p>
            <a:pPr marL="342900" indent="-342900">
              <a:buAutoNum type="arabicPeriod"/>
            </a:pPr>
            <a:r>
              <a:rPr lang="zh-TW" altLang="en-US" dirty="0"/>
              <a:t>如何有效使用</a:t>
            </a:r>
            <a:r>
              <a:rPr lang="en-US" altLang="zh-TW" dirty="0"/>
              <a:t>IPS/</a:t>
            </a:r>
            <a:r>
              <a:rPr lang="en-US" altLang="zh-TW" dirty="0" err="1"/>
              <a:t>SSLi</a:t>
            </a:r>
            <a:r>
              <a:rPr lang="zh-TW" altLang="en-US" dirty="0"/>
              <a:t>設備 </a:t>
            </a:r>
            <a:r>
              <a:rPr lang="en-US" altLang="zh-TW" dirty="0"/>
              <a:t>-&gt; </a:t>
            </a:r>
            <a:r>
              <a:rPr lang="en-US" altLang="zh-TW" dirty="0" err="1">
                <a:solidFill>
                  <a:srgbClr val="92D050"/>
                </a:solidFill>
              </a:rPr>
              <a:t>LoadBalance</a:t>
            </a:r>
            <a:endParaRPr lang="en-US" altLang="zh-TW" dirty="0">
              <a:solidFill>
                <a:srgbClr val="92D05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 altLang="zh-TW" dirty="0"/>
              <a:t>Link down/LAG -&gt; </a:t>
            </a:r>
            <a:r>
              <a:rPr lang="en-US" altLang="zh-TW" dirty="0">
                <a:solidFill>
                  <a:srgbClr val="92D050"/>
                </a:solidFill>
              </a:rPr>
              <a:t>Link down sync</a:t>
            </a:r>
          </a:p>
          <a:p>
            <a:pPr marL="342900" indent="-342900">
              <a:buAutoNum type="arabicPeriod"/>
            </a:pPr>
            <a:r>
              <a:rPr lang="en-US" altLang="zh-TW" dirty="0" err="1"/>
              <a:t>SSLi</a:t>
            </a:r>
            <a:r>
              <a:rPr lang="zh-TW" altLang="en-US" dirty="0"/>
              <a:t>只需要</a:t>
            </a:r>
            <a:r>
              <a:rPr lang="en-US" altLang="zh-TW" dirty="0"/>
              <a:t>443</a:t>
            </a:r>
            <a:r>
              <a:rPr lang="zh-TW" altLang="en-US" dirty="0"/>
              <a:t>流量 </a:t>
            </a:r>
            <a:r>
              <a:rPr lang="en-US" altLang="zh-TW" dirty="0"/>
              <a:t>-&gt; </a:t>
            </a:r>
            <a:r>
              <a:rPr lang="en-US" altLang="zh-TW" dirty="0">
                <a:solidFill>
                  <a:srgbClr val="92D050"/>
                </a:solidFill>
              </a:rPr>
              <a:t>Filter 443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2470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CECI</a:t>
            </a:r>
            <a:r>
              <a:rPr lang="zh-TW" altLang="en-US" dirty="0"/>
              <a:t>案例探討</a:t>
            </a:r>
          </a:p>
        </p:txBody>
      </p:sp>
      <p:sp>
        <p:nvSpPr>
          <p:cNvPr id="5" name="雲朵形 4">
            <a:extLst>
              <a:ext uri="{FF2B5EF4-FFF2-40B4-BE49-F238E27FC236}">
                <a16:creationId xmlns:a16="http://schemas.microsoft.com/office/drawing/2014/main" id="{D422E2BA-26D1-4C82-B405-48603BF7B6BA}"/>
              </a:ext>
            </a:extLst>
          </p:cNvPr>
          <p:cNvSpPr/>
          <p:nvPr/>
        </p:nvSpPr>
        <p:spPr>
          <a:xfrm>
            <a:off x="8777943" y="2963664"/>
            <a:ext cx="1802674" cy="1140822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04D97B2-BF01-4754-A22D-30507CC50224}"/>
              </a:ext>
            </a:extLst>
          </p:cNvPr>
          <p:cNvSpPr/>
          <p:nvPr/>
        </p:nvSpPr>
        <p:spPr>
          <a:xfrm>
            <a:off x="919100" y="3071313"/>
            <a:ext cx="1410788" cy="9318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LAN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9CCBE6F-C81E-4826-9BED-95774DE17239}"/>
              </a:ext>
            </a:extLst>
          </p:cNvPr>
          <p:cNvCxnSpPr>
            <a:cxnSpLocks/>
            <a:stCxn id="31" idx="1"/>
            <a:endCxn id="5" idx="2"/>
          </p:cNvCxnSpPr>
          <p:nvPr/>
        </p:nvCxnSpPr>
        <p:spPr>
          <a:xfrm>
            <a:off x="8192291" y="3108629"/>
            <a:ext cx="591244" cy="425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5B12F06-2776-4EE6-8E22-D8615433F718}"/>
              </a:ext>
            </a:extLst>
          </p:cNvPr>
          <p:cNvCxnSpPr>
            <a:cxnSpLocks/>
            <a:stCxn id="77" idx="0"/>
            <a:endCxn id="5" idx="2"/>
          </p:cNvCxnSpPr>
          <p:nvPr/>
        </p:nvCxnSpPr>
        <p:spPr>
          <a:xfrm flipV="1">
            <a:off x="8194469" y="3534075"/>
            <a:ext cx="589066" cy="469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八邊形 30">
            <a:extLst>
              <a:ext uri="{FF2B5EF4-FFF2-40B4-BE49-F238E27FC236}">
                <a16:creationId xmlns:a16="http://schemas.microsoft.com/office/drawing/2014/main" id="{65707EE0-7756-4673-A6F7-0216AF6A4515}"/>
              </a:ext>
            </a:extLst>
          </p:cNvPr>
          <p:cNvSpPr/>
          <p:nvPr/>
        </p:nvSpPr>
        <p:spPr>
          <a:xfrm>
            <a:off x="7225640" y="2440006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sp>
        <p:nvSpPr>
          <p:cNvPr id="70" name="八邊形 69">
            <a:extLst>
              <a:ext uri="{FF2B5EF4-FFF2-40B4-BE49-F238E27FC236}">
                <a16:creationId xmlns:a16="http://schemas.microsoft.com/office/drawing/2014/main" id="{C78D1B22-BBCC-4282-8E9B-B284017C7179}"/>
              </a:ext>
            </a:extLst>
          </p:cNvPr>
          <p:cNvSpPr/>
          <p:nvPr/>
        </p:nvSpPr>
        <p:spPr>
          <a:xfrm>
            <a:off x="3026574" y="2443152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6" name="八邊形 75">
            <a:extLst>
              <a:ext uri="{FF2B5EF4-FFF2-40B4-BE49-F238E27FC236}">
                <a16:creationId xmlns:a16="http://schemas.microsoft.com/office/drawing/2014/main" id="{8E648CA4-1D32-4375-869A-18491A6A86B5}"/>
              </a:ext>
            </a:extLst>
          </p:cNvPr>
          <p:cNvSpPr/>
          <p:nvPr/>
        </p:nvSpPr>
        <p:spPr>
          <a:xfrm>
            <a:off x="3026573" y="3726181"/>
            <a:ext cx="966651" cy="945572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CS</a:t>
            </a:r>
            <a:endParaRPr lang="zh-TW" altLang="en-US" dirty="0"/>
          </a:p>
        </p:txBody>
      </p:sp>
      <p:sp>
        <p:nvSpPr>
          <p:cNvPr id="77" name="八邊形 76">
            <a:extLst>
              <a:ext uri="{FF2B5EF4-FFF2-40B4-BE49-F238E27FC236}">
                <a16:creationId xmlns:a16="http://schemas.microsoft.com/office/drawing/2014/main" id="{53B3F4BD-E92B-480B-8845-794F2CADB2D0}"/>
              </a:ext>
            </a:extLst>
          </p:cNvPr>
          <p:cNvSpPr/>
          <p:nvPr/>
        </p:nvSpPr>
        <p:spPr>
          <a:xfrm>
            <a:off x="7227818" y="3726181"/>
            <a:ext cx="966651" cy="945572"/>
          </a:xfrm>
          <a:prstGeom prst="oc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UG</a:t>
            </a:r>
            <a:endParaRPr lang="zh-TW" altLang="en-US" dirty="0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DAA3D08-3CDD-4A1C-9905-3060F670CC1B}"/>
              </a:ext>
            </a:extLst>
          </p:cNvPr>
          <p:cNvCxnSpPr>
            <a:cxnSpLocks/>
            <a:stCxn id="70" idx="0"/>
            <a:endCxn id="31" idx="5"/>
          </p:cNvCxnSpPr>
          <p:nvPr/>
        </p:nvCxnSpPr>
        <p:spPr>
          <a:xfrm flipV="1">
            <a:off x="3993225" y="2716955"/>
            <a:ext cx="3232415" cy="3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C2DBBD7C-FD1D-49CB-96D6-54DEA4DA0EA9}"/>
              </a:ext>
            </a:extLst>
          </p:cNvPr>
          <p:cNvCxnSpPr>
            <a:cxnSpLocks/>
            <a:stCxn id="70" idx="1"/>
            <a:endCxn id="77" idx="5"/>
          </p:cNvCxnSpPr>
          <p:nvPr/>
        </p:nvCxnSpPr>
        <p:spPr>
          <a:xfrm>
            <a:off x="3993225" y="3111775"/>
            <a:ext cx="3234593" cy="89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1AA65050-0CBD-4900-8FCE-4E6FAEFED196}"/>
              </a:ext>
            </a:extLst>
          </p:cNvPr>
          <p:cNvCxnSpPr>
            <a:cxnSpLocks/>
            <a:stCxn id="76" idx="0"/>
            <a:endCxn id="31" idx="4"/>
          </p:cNvCxnSpPr>
          <p:nvPr/>
        </p:nvCxnSpPr>
        <p:spPr>
          <a:xfrm flipV="1">
            <a:off x="3993224" y="3108629"/>
            <a:ext cx="3232416" cy="894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BEF638AC-7090-4C83-AA99-189D774A9FC0}"/>
              </a:ext>
            </a:extLst>
          </p:cNvPr>
          <p:cNvCxnSpPr>
            <a:cxnSpLocks/>
            <a:stCxn id="76" idx="1"/>
            <a:endCxn id="77" idx="4"/>
          </p:cNvCxnSpPr>
          <p:nvPr/>
        </p:nvCxnSpPr>
        <p:spPr>
          <a:xfrm>
            <a:off x="3993224" y="4394804"/>
            <a:ext cx="32345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960552FC-4270-456F-8B1F-6F42A785AC52}"/>
              </a:ext>
            </a:extLst>
          </p:cNvPr>
          <p:cNvCxnSpPr>
            <a:stCxn id="6" idx="6"/>
            <a:endCxn id="70" idx="4"/>
          </p:cNvCxnSpPr>
          <p:nvPr/>
        </p:nvCxnSpPr>
        <p:spPr>
          <a:xfrm flipV="1">
            <a:off x="2329888" y="3111775"/>
            <a:ext cx="696686" cy="425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EEB1D6F7-1DA6-47A3-BC15-4ADD943B5413}"/>
              </a:ext>
            </a:extLst>
          </p:cNvPr>
          <p:cNvCxnSpPr>
            <a:stCxn id="6" idx="6"/>
            <a:endCxn id="76" idx="5"/>
          </p:cNvCxnSpPr>
          <p:nvPr/>
        </p:nvCxnSpPr>
        <p:spPr>
          <a:xfrm>
            <a:off x="2329888" y="3537222"/>
            <a:ext cx="696685" cy="465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B9E30C3-1C56-49AD-A2D4-7796AE142658}"/>
              </a:ext>
            </a:extLst>
          </p:cNvPr>
          <p:cNvSpPr txBox="1"/>
          <p:nvPr/>
        </p:nvSpPr>
        <p:spPr>
          <a:xfrm>
            <a:off x="4271899" y="1000715"/>
            <a:ext cx="245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More features</a:t>
            </a:r>
            <a:endParaRPr lang="zh-TW" altLang="en-US" sz="2400" dirty="0"/>
          </a:p>
        </p:txBody>
      </p: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024BECC0-D4D1-4FA0-90EE-3BA4603E1D81}"/>
              </a:ext>
            </a:extLst>
          </p:cNvPr>
          <p:cNvGrpSpPr/>
          <p:nvPr/>
        </p:nvGrpSpPr>
        <p:grpSpPr>
          <a:xfrm>
            <a:off x="2747900" y="2326277"/>
            <a:ext cx="1524000" cy="2938669"/>
            <a:chOff x="2747900" y="2326277"/>
            <a:chExt cx="1524000" cy="2938669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B184CDB8-6840-4986-ACD3-4A6FC4BE6796}"/>
                </a:ext>
              </a:extLst>
            </p:cNvPr>
            <p:cNvSpPr/>
            <p:nvPr/>
          </p:nvSpPr>
          <p:spPr>
            <a:xfrm>
              <a:off x="2747900" y="2326277"/>
              <a:ext cx="1524000" cy="293866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F6E62350-EBAE-4639-8A32-3AC4E632E355}"/>
                </a:ext>
              </a:extLst>
            </p:cNvPr>
            <p:cNvSpPr txBox="1"/>
            <p:nvPr/>
          </p:nvSpPr>
          <p:spPr>
            <a:xfrm>
              <a:off x="2894111" y="4791010"/>
              <a:ext cx="1338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Core Switch</a:t>
              </a:r>
              <a:endParaRPr lang="zh-TW" altLang="en-US" dirty="0"/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F2546E36-E76C-45FA-B02F-56B6229C552F}"/>
              </a:ext>
            </a:extLst>
          </p:cNvPr>
          <p:cNvSpPr/>
          <p:nvPr/>
        </p:nvSpPr>
        <p:spPr>
          <a:xfrm>
            <a:off x="5057508" y="2440006"/>
            <a:ext cx="1422400" cy="2172103"/>
          </a:xfrm>
          <a:custGeom>
            <a:avLst/>
            <a:gdLst>
              <a:gd name="connsiteX0" fmla="*/ 0 w 1422400"/>
              <a:gd name="connsiteY0" fmla="*/ 0 h 2592856"/>
              <a:gd name="connsiteX1" fmla="*/ 1422400 w 1422400"/>
              <a:gd name="connsiteY1" fmla="*/ 0 h 2592856"/>
              <a:gd name="connsiteX2" fmla="*/ 1422400 w 1422400"/>
              <a:gd name="connsiteY2" fmla="*/ 2592856 h 2592856"/>
              <a:gd name="connsiteX3" fmla="*/ 0 w 1422400"/>
              <a:gd name="connsiteY3" fmla="*/ 2592856 h 2592856"/>
              <a:gd name="connsiteX4" fmla="*/ 0 w 1422400"/>
              <a:gd name="connsiteY4" fmla="*/ 0 h 2592856"/>
              <a:gd name="connsiteX0" fmla="*/ 0 w 1422400"/>
              <a:gd name="connsiteY0" fmla="*/ 0 h 2592856"/>
              <a:gd name="connsiteX1" fmla="*/ 1422400 w 1422400"/>
              <a:gd name="connsiteY1" fmla="*/ 0 h 2592856"/>
              <a:gd name="connsiteX2" fmla="*/ 1422400 w 1422400"/>
              <a:gd name="connsiteY2" fmla="*/ 2592856 h 2592856"/>
              <a:gd name="connsiteX3" fmla="*/ 0 w 1422400"/>
              <a:gd name="connsiteY3" fmla="*/ 2592856 h 2592856"/>
              <a:gd name="connsiteX4" fmla="*/ 1039 w 1422400"/>
              <a:gd name="connsiteY4" fmla="*/ 1597137 h 2592856"/>
              <a:gd name="connsiteX5" fmla="*/ 0 w 1422400"/>
              <a:gd name="connsiteY5" fmla="*/ 0 h 2592856"/>
              <a:gd name="connsiteX0" fmla="*/ 0 w 1422400"/>
              <a:gd name="connsiteY0" fmla="*/ 0 h 2592856"/>
              <a:gd name="connsiteX1" fmla="*/ 1422400 w 1422400"/>
              <a:gd name="connsiteY1" fmla="*/ 0 h 2592856"/>
              <a:gd name="connsiteX2" fmla="*/ 1422400 w 1422400"/>
              <a:gd name="connsiteY2" fmla="*/ 2592856 h 2592856"/>
              <a:gd name="connsiteX3" fmla="*/ 0 w 1422400"/>
              <a:gd name="connsiteY3" fmla="*/ 2592856 h 2592856"/>
              <a:gd name="connsiteX4" fmla="*/ 1039 w 1422400"/>
              <a:gd name="connsiteY4" fmla="*/ 1756625 h 2592856"/>
              <a:gd name="connsiteX5" fmla="*/ 0 w 1422400"/>
              <a:gd name="connsiteY5" fmla="*/ 0 h 2592856"/>
              <a:gd name="connsiteX0" fmla="*/ 0 w 1422400"/>
              <a:gd name="connsiteY0" fmla="*/ 0 h 2592856"/>
              <a:gd name="connsiteX1" fmla="*/ 1422400 w 1422400"/>
              <a:gd name="connsiteY1" fmla="*/ 0 h 2592856"/>
              <a:gd name="connsiteX2" fmla="*/ 1415169 w 1422400"/>
              <a:gd name="connsiteY2" fmla="*/ 1767258 h 2592856"/>
              <a:gd name="connsiteX3" fmla="*/ 1422400 w 1422400"/>
              <a:gd name="connsiteY3" fmla="*/ 2592856 h 2592856"/>
              <a:gd name="connsiteX4" fmla="*/ 0 w 1422400"/>
              <a:gd name="connsiteY4" fmla="*/ 2592856 h 2592856"/>
              <a:gd name="connsiteX5" fmla="*/ 1039 w 1422400"/>
              <a:gd name="connsiteY5" fmla="*/ 1756625 h 2592856"/>
              <a:gd name="connsiteX6" fmla="*/ 0 w 1422400"/>
              <a:gd name="connsiteY6" fmla="*/ 0 h 259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2400" h="2592856">
                <a:moveTo>
                  <a:pt x="0" y="0"/>
                </a:moveTo>
                <a:lnTo>
                  <a:pt x="1422400" y="0"/>
                </a:lnTo>
                <a:cubicBezTo>
                  <a:pt x="1419990" y="589086"/>
                  <a:pt x="1417579" y="1178172"/>
                  <a:pt x="1415169" y="1767258"/>
                </a:cubicBezTo>
                <a:cubicBezTo>
                  <a:pt x="1417579" y="2042457"/>
                  <a:pt x="1419990" y="2317657"/>
                  <a:pt x="1422400" y="2592856"/>
                </a:cubicBezTo>
                <a:lnTo>
                  <a:pt x="0" y="2592856"/>
                </a:lnTo>
                <a:cubicBezTo>
                  <a:pt x="346" y="2260950"/>
                  <a:pt x="693" y="2088531"/>
                  <a:pt x="1039" y="1756625"/>
                </a:cubicBezTo>
                <a:cubicBezTo>
                  <a:pt x="693" y="1224246"/>
                  <a:pt x="346" y="532379"/>
                  <a:pt x="0" y="0"/>
                </a:cubicBez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PacketX</a:t>
            </a:r>
            <a:endParaRPr lang="zh-TW" altLang="en-US" dirty="0"/>
          </a:p>
        </p:txBody>
      </p: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2B78A685-32C5-4A4D-B74C-43CAFAD88326}"/>
              </a:ext>
            </a:extLst>
          </p:cNvPr>
          <p:cNvSpPr txBox="1"/>
          <p:nvPr/>
        </p:nvSpPr>
        <p:spPr>
          <a:xfrm>
            <a:off x="7343938" y="4831960"/>
            <a:ext cx="38697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92D050"/>
                </a:solidFill>
              </a:rPr>
              <a:t>More features</a:t>
            </a:r>
          </a:p>
          <a:p>
            <a:pPr marL="342900" indent="-342900">
              <a:buAutoNum type="arabicPeriod"/>
            </a:pPr>
            <a:r>
              <a:rPr lang="en-US" altLang="zh-TW" dirty="0"/>
              <a:t>Bypass </a:t>
            </a:r>
            <a:r>
              <a:rPr lang="zh-TW" altLang="en-US" dirty="0"/>
              <a:t>白名單 </a:t>
            </a:r>
            <a:r>
              <a:rPr lang="en-US" altLang="zh-TW" dirty="0"/>
              <a:t>IP/domain/</a:t>
            </a:r>
            <a:r>
              <a:rPr lang="en-US" altLang="zh-TW" dirty="0" err="1"/>
              <a:t>url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Block </a:t>
            </a:r>
            <a:r>
              <a:rPr lang="zh-TW" altLang="en-US" dirty="0"/>
              <a:t>黑名單 </a:t>
            </a:r>
            <a:r>
              <a:rPr lang="en-US" altLang="zh-TW" dirty="0"/>
              <a:t>IP/domain/</a:t>
            </a:r>
            <a:r>
              <a:rPr lang="en-US" altLang="zh-TW" dirty="0" err="1"/>
              <a:t>url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IP: </a:t>
            </a:r>
            <a:r>
              <a:rPr lang="zh-TW" altLang="en-US" dirty="0"/>
              <a:t>千萬筆</a:t>
            </a:r>
            <a:r>
              <a:rPr lang="en-US" altLang="zh-TW" dirty="0"/>
              <a:t>  </a:t>
            </a:r>
          </a:p>
          <a:p>
            <a:r>
              <a:rPr lang="en-US" altLang="zh-TW" dirty="0"/>
              <a:t>domain/</a:t>
            </a:r>
            <a:r>
              <a:rPr lang="en-US" altLang="zh-TW" dirty="0" err="1"/>
              <a:t>url</a:t>
            </a:r>
            <a:r>
              <a:rPr lang="en-US" altLang="zh-TW" dirty="0"/>
              <a:t>: </a:t>
            </a:r>
            <a:r>
              <a:rPr lang="zh-TW" altLang="en-US" dirty="0"/>
              <a:t>百萬筆</a:t>
            </a:r>
            <a:endParaRPr lang="en-US" altLang="zh-TW" dirty="0"/>
          </a:p>
        </p:txBody>
      </p:sp>
      <p:sp>
        <p:nvSpPr>
          <p:cNvPr id="3" name="流程圖: 多重文件 2">
            <a:extLst>
              <a:ext uri="{FF2B5EF4-FFF2-40B4-BE49-F238E27FC236}">
                <a16:creationId xmlns:a16="http://schemas.microsoft.com/office/drawing/2014/main" id="{D6E09F08-1E59-49B3-8423-4DF73889FA35}"/>
              </a:ext>
            </a:extLst>
          </p:cNvPr>
          <p:cNvSpPr/>
          <p:nvPr/>
        </p:nvSpPr>
        <p:spPr>
          <a:xfrm>
            <a:off x="5369003" y="4885912"/>
            <a:ext cx="1275341" cy="879885"/>
          </a:xfrm>
          <a:prstGeom prst="flowChartMultidocumen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黑白名單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8325B11-B626-4660-8FB0-FD07D1FC1841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6094412" y="4085135"/>
            <a:ext cx="1588" cy="80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236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7969</TotalTime>
  <Words>2098</Words>
  <Application>Microsoft Office PowerPoint</Application>
  <PresentationFormat>寬螢幕</PresentationFormat>
  <Paragraphs>465</Paragraphs>
  <Slides>42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9" baseType="lpstr">
      <vt:lpstr>Roboto Mono</vt:lpstr>
      <vt:lpstr>微軟正黑體</vt:lpstr>
      <vt:lpstr>Arial</vt:lpstr>
      <vt:lpstr>Calibri</vt:lpstr>
      <vt:lpstr>Calibri Light</vt:lpstr>
      <vt:lpstr>Source Sans Pro</vt:lpstr>
      <vt:lpstr>Office 佈景主題</vt:lpstr>
      <vt:lpstr>Grism-F2T12</vt:lpstr>
      <vt:lpstr>PowerPoint 簡報</vt:lpstr>
      <vt:lpstr>PowerPoint 簡報</vt:lpstr>
      <vt:lpstr>PowerPoint 簡報</vt:lpstr>
      <vt:lpstr>設備簡介: F2T12</vt:lpstr>
      <vt:lpstr>WEB操作畫面簡介</vt:lpstr>
      <vt:lpstr>PowerPoint 簡報</vt:lpstr>
      <vt:lpstr>各介面的流量</vt:lpstr>
      <vt:lpstr>NetFlow萃取設定</vt:lpstr>
      <vt:lpstr>X-Tunnel 接收端設定</vt:lpstr>
      <vt:lpstr>X-Tunnel 發送端設定</vt:lpstr>
      <vt:lpstr>PowerPoint 簡報</vt:lpstr>
      <vt:lpstr>PowerPoint 簡報</vt:lpstr>
      <vt:lpstr>PowerPoint 簡報</vt:lpstr>
      <vt:lpstr>介接延伸用switch</vt:lpstr>
      <vt:lpstr>PowerPoint 簡報</vt:lpstr>
      <vt:lpstr>PowerPoint 簡報</vt:lpstr>
      <vt:lpstr>PowerPoint 簡報</vt:lpstr>
      <vt:lpstr>從web介面輸入XML script</vt:lpstr>
      <vt:lpstr>GRISM XML</vt:lpstr>
      <vt:lpstr>&lt;filter&gt;</vt:lpstr>
      <vt:lpstr>&lt;filter&gt;</vt:lpstr>
      <vt:lpstr>&lt;filter&gt;</vt:lpstr>
      <vt:lpstr>&lt;chain&gt;</vt:lpstr>
      <vt:lpstr>範例:匯聚以及分流</vt:lpstr>
      <vt:lpstr>&lt;chain&gt;</vt:lpstr>
      <vt:lpstr>範例:inline阻擋來源IP黑名單</vt:lpstr>
      <vt:lpstr>&lt;chain&gt;</vt:lpstr>
      <vt:lpstr>範例:inline阻擋HTTP url黑名單</vt:lpstr>
      <vt:lpstr>&lt;chain&gt;</vt:lpstr>
      <vt:lpstr>範例: inlne阻擋IP/dns domain黑名單</vt:lpstr>
      <vt:lpstr>PowerPoint 簡報</vt:lpstr>
      <vt:lpstr>PowerPoint 簡報</vt:lpstr>
      <vt:lpstr>設定阻擋IP/domin黑名單送出syslog</vt:lpstr>
      <vt:lpstr>進階案例探討</vt:lpstr>
      <vt:lpstr>IPS/NGFW的使用情境</vt:lpstr>
      <vt:lpstr>效益優化方案:inline aggregation</vt:lpstr>
      <vt:lpstr>CECI案例探討</vt:lpstr>
      <vt:lpstr>CECI案例探討</vt:lpstr>
      <vt:lpstr>CECI案例探討</vt:lpstr>
      <vt:lpstr>CECI案例探討</vt:lpstr>
      <vt:lpstr>CECI案例探討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jy lin</dc:creator>
  <cp:lastModifiedBy>Jay Lin</cp:lastModifiedBy>
  <cp:revision>236</cp:revision>
  <dcterms:created xsi:type="dcterms:W3CDTF">2017-03-27T07:05:16Z</dcterms:created>
  <dcterms:modified xsi:type="dcterms:W3CDTF">2022-04-08T06:27:08Z</dcterms:modified>
</cp:coreProperties>
</file>